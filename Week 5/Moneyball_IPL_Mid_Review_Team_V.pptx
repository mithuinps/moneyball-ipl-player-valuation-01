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0.svg" ContentType="image/svg+xml"/>
  <Override PartName="/ppt/media/image1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9" r:id="rId30"/>
    <p:sldId id="263" r:id="rId12"/>
    <p:sldId id="270" r:id="rId31"/>
    <p:sldId id="264" r:id="rId13"/>
    <p:sldId id="271" r:id="rId32"/>
    <p:sldId id="265" r:id="rId14"/>
    <p:sldId id="266" r:id="rId15"/>
    <p:sldId id="267" r:id="rId16"/>
    <p:sldId id="268" r:id="rId17"/>
  </p:sldIdLst>
  <p:sldSz cx="18288000" cy="10287000"/>
  <p:notesSz cx="6858000" cy="9144000"/>
  <p:embeddedFontLst>
    <p:embeddedFont>
      <p:font typeface="Poppins" panose="00000500000000000000" pitchFamily="2" charset="0"/>
      <p:regular r:id="rId18"/>
    </p:embeddedFont>
    <p:embeddedFont>
      <p:font typeface="Poppins Bold" panose="00000800000000000000" charset="0"/>
      <p:regular r:id="rId19"/>
      <p:bold r:id="rId20"/>
    </p:embeddedFont>
    <p:embeddedFont>
      <p:font typeface="Poppins Bold Italics" panose="020B0604020202020204" charset="0"/>
      <p:regular r:id="rId21"/>
    </p:embeddedFont>
    <p:embeddedFont>
      <p:font typeface="Poppins Italics" panose="020B0604020202020204" charset="0"/>
      <p:regular r:id="rId22"/>
    </p:embeddedFont>
    <p:embeddedFont>
      <p:font typeface="Times New Roman Bold" panose="02020803070505020304" pitchFamily="18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5CB7D-F697-ACB2-664D-D7E6AFCFB53F}" v="12" dt="2026-03-09T12:42:18.155"/>
    <p1510:client id="{51287185-4F37-FF56-C474-350C26ED8CC8}" v="326" dt="2026-03-09T12:41:48.936"/>
    <p1510:client id="{8B138E48-3DF8-0276-956E-60BF194BDDA8}" v="17" dt="2026-03-09T10:57:37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3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Relationship Id="rId30" Type="http://schemas.openxmlformats.org/officeDocument/2006/relationships/slide" Target="slides/slide8.xml"/><Relationship Id="rId31" Type="http://schemas.openxmlformats.org/officeDocument/2006/relationships/slide" Target="slides/slide10.xml"/><Relationship Id="rId32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qeeq S 24BAD109" userId="S::shaqeeq.24ad@kct.ac.in::71df80c3-3251-4cde-b824-159bd162868f" providerId="AD" clId="Web-{39F5CB7D-F697-ACB2-664D-D7E6AFCFB53F}"/>
    <pc:docChg chg="modSld">
      <pc:chgData name="Shaqeeq S 24BAD109" userId="S::shaqeeq.24ad@kct.ac.in::71df80c3-3251-4cde-b824-159bd162868f" providerId="AD" clId="Web-{39F5CB7D-F697-ACB2-664D-D7E6AFCFB53F}" dt="2026-03-09T12:42:16.670" v="8" actId="20577"/>
      <pc:docMkLst>
        <pc:docMk/>
      </pc:docMkLst>
      <pc:sldChg chg="delSp modSp">
        <pc:chgData name="Shaqeeq S 24BAD109" userId="S::shaqeeq.24ad@kct.ac.in::71df80c3-3251-4cde-b824-159bd162868f" providerId="AD" clId="Web-{39F5CB7D-F697-ACB2-664D-D7E6AFCFB53F}" dt="2026-03-09T12:42:08.545" v="3"/>
        <pc:sldMkLst>
          <pc:docMk/>
          <pc:sldMk cId="0" sldId="256"/>
        </pc:sldMkLst>
        <pc:spChg chg="del mod">
          <ac:chgData name="Shaqeeq S 24BAD109" userId="S::shaqeeq.24ad@kct.ac.in::71df80c3-3251-4cde-b824-159bd162868f" providerId="AD" clId="Web-{39F5CB7D-F697-ACB2-664D-D7E6AFCFB53F}" dt="2026-03-09T12:42:08.545" v="3"/>
          <ac:spMkLst>
            <pc:docMk/>
            <pc:sldMk cId="0" sldId="256"/>
            <ac:spMk id="7" creationId="{00000000-0000-0000-0000-000000000000}"/>
          </ac:spMkLst>
        </pc:spChg>
      </pc:sldChg>
      <pc:sldChg chg="delSp modSp">
        <pc:chgData name="Shaqeeq S 24BAD109" userId="S::shaqeeq.24ad@kct.ac.in::71df80c3-3251-4cde-b824-159bd162868f" providerId="AD" clId="Web-{39F5CB7D-F697-ACB2-664D-D7E6AFCFB53F}" dt="2026-03-09T12:42:13.733" v="6"/>
        <pc:sldMkLst>
          <pc:docMk/>
          <pc:sldMk cId="0" sldId="257"/>
        </pc:sldMkLst>
        <pc:spChg chg="del mod">
          <ac:chgData name="Shaqeeq S 24BAD109" userId="S::shaqeeq.24ad@kct.ac.in::71df80c3-3251-4cde-b824-159bd162868f" providerId="AD" clId="Web-{39F5CB7D-F697-ACB2-664D-D7E6AFCFB53F}" dt="2026-03-09T12:42:13.733" v="6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39F5CB7D-F697-ACB2-664D-D7E6AFCFB53F}" dt="2026-03-09T12:42:16.670" v="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39F5CB7D-F697-ACB2-664D-D7E6AFCFB53F}" dt="2026-03-09T12:42:16.670" v="8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51287185-4F37-FF56-C474-350C26ED8CC8}"/>
    <pc:docChg chg="modSld">
      <pc:chgData name="Shaqeeq S 24BAD109" userId="S::shaqeeq.24ad@kct.ac.in::71df80c3-3251-4cde-b824-159bd162868f" providerId="AD" clId="Web-{51287185-4F37-FF56-C474-350C26ED8CC8}" dt="2026-03-09T12:41:48.936" v="206" actId="14100"/>
      <pc:docMkLst>
        <pc:docMk/>
      </pc:docMkLst>
      <pc:sldChg chg="modSp">
        <pc:chgData name="Shaqeeq S 24BAD109" userId="S::shaqeeq.24ad@kct.ac.in::71df80c3-3251-4cde-b824-159bd162868f" providerId="AD" clId="Web-{51287185-4F37-FF56-C474-350C26ED8CC8}" dt="2026-03-09T12:25:07.732" v="42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51287185-4F37-FF56-C474-350C26ED8CC8}" dt="2026-03-09T12:25:07.732" v="42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6:08.607" v="52" actId="20577"/>
        <pc:sldMkLst>
          <pc:docMk/>
          <pc:sldMk cId="0" sldId="257"/>
        </pc:sldMkLst>
        <pc:spChg chg="mod">
          <ac:chgData name="Shaqeeq S 24BAD109" userId="S::shaqeeq.24ad@kct.ac.in::71df80c3-3251-4cde-b824-159bd162868f" providerId="AD" clId="Web-{51287185-4F37-FF56-C474-350C26ED8CC8}" dt="2026-03-09T12:26:08.607" v="52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9:28.849" v="8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51287185-4F37-FF56-C474-350C26ED8CC8}" dt="2026-03-09T12:29:28.849" v="88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">
        <pc:chgData name="Shaqeeq S 24BAD109" userId="S::shaqeeq.24ad@kct.ac.in::71df80c3-3251-4cde-b824-159bd162868f" providerId="AD" clId="Web-{51287185-4F37-FF56-C474-350C26ED8CC8}" dt="2026-03-09T12:41:48.936" v="206" actId="14100"/>
        <pc:sldMkLst>
          <pc:docMk/>
          <pc:sldMk cId="0" sldId="259"/>
        </pc:sldMkLst>
        <pc:spChg chg="add del mod">
          <ac:chgData name="Shaqeeq S 24BAD109" userId="S::shaqeeq.24ad@kct.ac.in::71df80c3-3251-4cde-b824-159bd162868f" providerId="AD" clId="Web-{51287185-4F37-FF56-C474-350C26ED8CC8}" dt="2026-03-09T12:41:48.936" v="206" actId="14100"/>
          <ac:spMkLst>
            <pc:docMk/>
            <pc:sldMk cId="0" sldId="259"/>
            <ac:spMk id="6" creationId="{39830326-9244-16C5-6A34-4705E606B26E}"/>
          </ac:spMkLst>
        </pc:spChg>
        <pc:spChg chg="add del mod">
          <ac:chgData name="Shaqeeq S 24BAD109" userId="S::shaqeeq.24ad@kct.ac.in::71df80c3-3251-4cde-b824-159bd162868f" providerId="AD" clId="Web-{51287185-4F37-FF56-C474-350C26ED8CC8}" dt="2026-03-09T12:41:48.827" v="204"/>
          <ac:spMkLst>
            <pc:docMk/>
            <pc:sldMk cId="0" sldId="259"/>
            <ac:spMk id="8" creationId="{D75AD6F8-7901-AD0C-1FAD-9B4BD1C27926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561" v="199" actId="20577"/>
        <pc:sldMkLst>
          <pc:docMk/>
          <pc:sldMk cId="0" sldId="260"/>
        </pc:sldMkLst>
        <pc:spChg chg="mod">
          <ac:chgData name="Shaqeeq S 24BAD109" userId="S::shaqeeq.24ad@kct.ac.in::71df80c3-3251-4cde-b824-159bd162868f" providerId="AD" clId="Web-{51287185-4F37-FF56-C474-350C26ED8CC8}" dt="2026-03-09T12:41:48.561" v="199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202" v="191" actId="20577"/>
        <pc:sldMkLst>
          <pc:docMk/>
          <pc:sldMk cId="0" sldId="261"/>
        </pc:sldMkLst>
        <pc:spChg chg="mod">
          <ac:chgData name="Shaqeeq S 24BAD109" userId="S::shaqeeq.24ad@kct.ac.in::71df80c3-3251-4cde-b824-159bd162868f" providerId="AD" clId="Web-{51287185-4F37-FF56-C474-350C26ED8CC8}" dt="2026-03-09T12:41:48.202" v="191" actId="20577"/>
          <ac:spMkLst>
            <pc:docMk/>
            <pc:sldMk cId="0" sldId="261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8B138E48-3DF8-0276-956E-60BF194BDDA8}"/>
    <pc:docChg chg="modSld">
      <pc:chgData name="Shaqeeq S 24BAD109" userId="S::shaqeeq.24ad@kct.ac.in::71df80c3-3251-4cde-b824-159bd162868f" providerId="AD" clId="Web-{8B138E48-3DF8-0276-956E-60BF194BDDA8}" dt="2026-03-09T10:57:35.505" v="7" actId="20577"/>
      <pc:docMkLst>
        <pc:docMk/>
      </pc:docMkLst>
      <pc:sldChg chg="modSp">
        <pc:chgData name="Shaqeeq S 24BAD109" userId="S::shaqeeq.24ad@kct.ac.in::71df80c3-3251-4cde-b824-159bd162868f" providerId="AD" clId="Web-{8B138E48-3DF8-0276-956E-60BF194BDDA8}" dt="2026-03-09T10:57:35.505" v="7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8B138E48-3DF8-0276-956E-60BF194BDDA8}" dt="2026-03-09T10:57:35.505" v="7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thuinps/Moneyball-IPL-Player-Valu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190500"/>
            <a:ext cx="1299889" cy="1278575"/>
          </a:xfrm>
          <a:custGeom>
            <a:avLst/>
            <a:gdLst/>
            <a:ahLst/>
            <a:cxnLst/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0" t="-4622" r="-22184" b="-29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37790" y="190500"/>
            <a:ext cx="2519089" cy="945897"/>
          </a:xfrm>
          <a:custGeom>
            <a:avLst/>
            <a:gdLst/>
            <a:ahLst/>
            <a:cxnLst/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885058" y="326229"/>
            <a:ext cx="13852732" cy="25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6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and Data Science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and Visualization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(24ADI204)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9804" y="3183070"/>
            <a:ext cx="10410901" cy="126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DATA-VIZ HACK-A-BIT (2026-2027) </a:t>
            </a:r>
          </a:p>
          <a:p>
            <a:pPr algn="ctr">
              <a:lnSpc>
                <a:spcPts val="4985"/>
              </a:lnSpc>
              <a:spcBef>
                <a:spcPct val="0"/>
              </a:spcBef>
            </a:pPr>
            <a:endParaRPr lang="en-US" sz="3561" b="1" i="1" dirty="0">
              <a:solidFill>
                <a:srgbClr val="000000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281341" y="4918571"/>
            <a:ext cx="4887823" cy="620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7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Team 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1423" y="3794340"/>
            <a:ext cx="90000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MID REVIEW (September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1236" y="5355667"/>
            <a:ext cx="136803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Moneyball: IPL Player 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0252" y="6550000"/>
            <a:ext cx="3810000" cy="7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8" y="7450000"/>
            <a:ext cx="72832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D S – 25BAD022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 PRAKASH M – 25BAD043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MITHUIN P S – 25BAD057</a:t>
            </a:r>
          </a:p>
        </p:txBody>
      </p:sp>
      <p:cxnSp>
        <p:nvCxnSpPr>
          <p:cNvPr id="12" name="Straight Connector 12"/>
          <p:cNvCxnSpPr/>
          <p:nvPr/>
        </p:nvCxnSpPr>
        <p:spPr>
          <a:xfrm>
            <a:off x="8686800" y="7500000"/>
            <a:ext cx="0" cy="18000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3"/>
          <p:cNvSpPr txBox="1"/>
          <p:nvPr/>
        </p:nvSpPr>
        <p:spPr>
          <a:xfrm>
            <a:off x="9300000" y="7450000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MADHAN P M – 25BAD503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RENGANATHAN G M – 25BAD087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42532" y="923093"/>
            <a:ext cx="13000000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734625" y="3363003"/>
            <a:ext cx="1906078" cy="1732798"/>
          </a:xfrm>
          <a:custGeom>
            <a:avLst/>
            <a:gdLst/>
            <a:ahLst/>
            <a:cxnLst/>
            <a:rect l="l" t="t" r="r" b="b"/>
            <a:pathLst>
              <a:path w="1906078" h="1732798">
                <a:moveTo>
                  <a:pt x="0" y="0"/>
                </a:moveTo>
                <a:lnTo>
                  <a:pt x="1906078" y="0"/>
                </a:lnTo>
                <a:lnTo>
                  <a:pt x="1906078" y="1732798"/>
                </a:lnTo>
                <a:lnTo>
                  <a:pt x="0" y="1732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tatement card"/>
          <p:cNvSpPr/>
          <p:nvPr/>
        </p:nvSpPr>
        <p:spPr>
          <a:xfrm>
            <a:off x="3000000" y="3200000"/>
            <a:ext cx="14650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350000" tIns="100000" rIns="350000" bIns="100000">
            <a:no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F5DA8"/>
                </a:solidFill>
                <a:latin typeface="Times New Roman"/>
              </a:rPr>
              <a:t>Why it matters</a:t>
            </a:r>
          </a:p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IPL teams spend large amounts of money during player auctions. However, auction price alone does not fully explain a player’s value.</a:t>
            </a:r>
          </a:p>
        </p:txBody>
      </p:sp>
      <p:sp>
        <p:nvSpPr>
          <p:cNvPr id="9" name="Statement card"/>
          <p:cNvSpPr/>
          <p:nvPr/>
        </p:nvSpPr>
        <p:spPr>
          <a:xfrm>
            <a:off x="3000000" y="5450000"/>
            <a:ext cx="14650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350000" tIns="100000" rIns="350000" bIns="100000">
            <a:no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F5DA8"/>
                </a:solidFill>
                <a:latin typeface="Times New Roman"/>
              </a:rPr>
              <a:t>Our approach</a:t>
            </a:r>
          </a:p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Our project analyses historical IPL auction data to understand how prices vary across seasons, teams and player roles.</a:t>
            </a:r>
          </a:p>
        </p:txBody>
      </p:sp>
      <p:sp>
        <p:nvSpPr>
          <p:cNvPr id="10" name="Statement card"/>
          <p:cNvSpPr/>
          <p:nvPr/>
        </p:nvSpPr>
        <p:spPr>
          <a:xfrm>
            <a:off x="3000000" y="7700000"/>
            <a:ext cx="14650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350000" tIns="100000" rIns="350000" bIns="100000">
            <a:no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F5DA8"/>
                </a:solidFill>
                <a:latin typeface="Times New Roman"/>
              </a:rPr>
              <a:t>The aim</a:t>
            </a:r>
          </a:p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The aim is to identify useful patterns that can support future IPL player-valuation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id="7" name="Freeform 7"/>
          <p:cNvSpPr/>
          <p:nvPr/>
        </p:nvSpPr>
        <p:spPr>
          <a:xfrm>
            <a:off x="718753" y="3315304"/>
            <a:ext cx="1828196" cy="1828196"/>
          </a:xfrm>
          <a:custGeom>
            <a:avLst/>
            <a:gdLst/>
            <a:ahLst/>
            <a:cxnLst/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Objective card"/>
          <p:cNvSpPr/>
          <p:nvPr/>
        </p:nvSpPr>
        <p:spPr>
          <a:xfrm>
            <a:off x="2900000" y="3150000"/>
            <a:ext cx="7225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550000" tIns="100000" rIns="250000" bIns="10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To collect and inspect IPL datasets.</a:t>
            </a:r>
          </a:p>
        </p:txBody>
      </p:sp>
      <p:sp>
        <p:nvSpPr>
          <p:cNvPr id="9" name="Badge 1"/>
          <p:cNvSpPr/>
          <p:nvPr/>
        </p:nvSpPr>
        <p:spPr>
          <a:xfrm>
            <a:off x="3200000" y="3650000"/>
            <a:ext cx="950000" cy="95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Objective card"/>
          <p:cNvSpPr/>
          <p:nvPr/>
        </p:nvSpPr>
        <p:spPr>
          <a:xfrm>
            <a:off x="10425000" y="3150000"/>
            <a:ext cx="7225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550000" tIns="100000" rIns="250000" bIns="10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To understand dataset structure and data quality.</a:t>
            </a:r>
          </a:p>
        </p:txBody>
      </p:sp>
      <p:sp>
        <p:nvSpPr>
          <p:cNvPr id="11" name="Badge 2"/>
          <p:cNvSpPr/>
          <p:nvPr/>
        </p:nvSpPr>
        <p:spPr>
          <a:xfrm>
            <a:off x="10725000" y="3650000"/>
            <a:ext cx="950000" cy="95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" name="Objective card"/>
          <p:cNvSpPr/>
          <p:nvPr/>
        </p:nvSpPr>
        <p:spPr>
          <a:xfrm>
            <a:off x="2900000" y="5400000"/>
            <a:ext cx="7225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550000" tIns="100000" rIns="250000" bIns="10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To identify missing values and potential outliers.</a:t>
            </a:r>
          </a:p>
        </p:txBody>
      </p:sp>
      <p:sp>
        <p:nvSpPr>
          <p:cNvPr id="13" name="Badge 3"/>
          <p:cNvSpPr/>
          <p:nvPr/>
        </p:nvSpPr>
        <p:spPr>
          <a:xfrm>
            <a:off x="3200000" y="5900000"/>
            <a:ext cx="950000" cy="95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Objective card"/>
          <p:cNvSpPr/>
          <p:nvPr/>
        </p:nvSpPr>
        <p:spPr>
          <a:xfrm>
            <a:off x="10425000" y="5400000"/>
            <a:ext cx="7225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550000" tIns="100000" rIns="250000" bIns="10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To analyse auction-price distributions.</a:t>
            </a:r>
          </a:p>
        </p:txBody>
      </p:sp>
      <p:sp>
        <p:nvSpPr>
          <p:cNvPr id="15" name="Badge 4"/>
          <p:cNvSpPr/>
          <p:nvPr/>
        </p:nvSpPr>
        <p:spPr>
          <a:xfrm>
            <a:off x="10725000" y="5900000"/>
            <a:ext cx="950000" cy="95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6" name="Objective card"/>
          <p:cNvSpPr/>
          <p:nvPr/>
        </p:nvSpPr>
        <p:spPr>
          <a:xfrm>
            <a:off x="2900000" y="7650000"/>
            <a:ext cx="7225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550000" tIns="100000" rIns="250000" bIns="10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To compare auction prices across teams, years and player roles.</a:t>
            </a:r>
          </a:p>
        </p:txBody>
      </p:sp>
      <p:sp>
        <p:nvSpPr>
          <p:cNvPr id="17" name="Badge 5"/>
          <p:cNvSpPr/>
          <p:nvPr/>
        </p:nvSpPr>
        <p:spPr>
          <a:xfrm>
            <a:off x="3200000" y="8150000"/>
            <a:ext cx="950000" cy="95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8" name="Objective card"/>
          <p:cNvSpPr/>
          <p:nvPr/>
        </p:nvSpPr>
        <p:spPr>
          <a:xfrm>
            <a:off x="10425000" y="7650000"/>
            <a:ext cx="7225000" cy="19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550000" tIns="100000" rIns="250000" bIns="10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To prepare data for future player-valuation analysis.</a:t>
            </a:r>
          </a:p>
        </p:txBody>
      </p:sp>
      <p:sp>
        <p:nvSpPr>
          <p:cNvPr id="19" name="Badge 6"/>
          <p:cNvSpPr/>
          <p:nvPr/>
        </p:nvSpPr>
        <p:spPr>
          <a:xfrm>
            <a:off x="10725000" y="8150000"/>
            <a:ext cx="950000" cy="95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42532" y="923093"/>
            <a:ext cx="13000000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Scope of the Project</a:t>
            </a:r>
          </a:p>
        </p:txBody>
      </p:sp>
      <p:sp>
        <p:nvSpPr>
          <p:cNvPr id="6" name="Subheading"/>
          <p:cNvSpPr txBox="1"/>
          <p:nvPr/>
        </p:nvSpPr>
        <p:spPr>
          <a:xfrm>
            <a:off x="900000" y="2950000"/>
            <a:ext cx="1675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112D63"/>
                </a:solidFill>
                <a:latin typeface="Times New Roman"/>
              </a:rPr>
              <a:t>Our project focuses on:</a:t>
            </a:r>
          </a:p>
        </p:txBody>
      </p:sp>
      <p:sp>
        <p:nvSpPr>
          <p:cNvPr id="7" name="Scope card"/>
          <p:cNvSpPr/>
          <p:nvPr/>
        </p:nvSpPr>
        <p:spPr>
          <a:xfrm>
            <a:off x="900000" y="3950000"/>
            <a:ext cx="8225000" cy="12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9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IPL auction-price analysis</a:t>
            </a:r>
          </a:p>
        </p:txBody>
      </p:sp>
      <p:sp>
        <p:nvSpPr>
          <p:cNvPr id="8" name="Marker"/>
          <p:cNvSpPr/>
          <p:nvPr/>
        </p:nvSpPr>
        <p:spPr>
          <a:xfrm>
            <a:off x="1250000" y="4350000"/>
            <a:ext cx="400000" cy="4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cope card"/>
          <p:cNvSpPr/>
          <p:nvPr/>
        </p:nvSpPr>
        <p:spPr>
          <a:xfrm>
            <a:off x="900000" y="5400000"/>
            <a:ext cx="8225000" cy="12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9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Data inspection and preprocessing</a:t>
            </a:r>
          </a:p>
        </p:txBody>
      </p:sp>
      <p:sp>
        <p:nvSpPr>
          <p:cNvPr id="10" name="Marker"/>
          <p:cNvSpPr/>
          <p:nvPr/>
        </p:nvSpPr>
        <p:spPr>
          <a:xfrm>
            <a:off x="1250000" y="5800000"/>
            <a:ext cx="400000" cy="4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cope card"/>
          <p:cNvSpPr/>
          <p:nvPr/>
        </p:nvSpPr>
        <p:spPr>
          <a:xfrm>
            <a:off x="900000" y="6850000"/>
            <a:ext cx="8225000" cy="12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9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Missing-value analysis</a:t>
            </a:r>
          </a:p>
        </p:txBody>
      </p:sp>
      <p:sp>
        <p:nvSpPr>
          <p:cNvPr id="12" name="Marker"/>
          <p:cNvSpPr/>
          <p:nvPr/>
        </p:nvSpPr>
        <p:spPr>
          <a:xfrm>
            <a:off x="1250000" y="7250000"/>
            <a:ext cx="400000" cy="4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cope card"/>
          <p:cNvSpPr/>
          <p:nvPr/>
        </p:nvSpPr>
        <p:spPr>
          <a:xfrm>
            <a:off x="900000" y="8300000"/>
            <a:ext cx="8225000" cy="12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9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Potential-outlier detection</a:t>
            </a:r>
          </a:p>
        </p:txBody>
      </p:sp>
      <p:sp>
        <p:nvSpPr>
          <p:cNvPr id="14" name="Marker"/>
          <p:cNvSpPr/>
          <p:nvPr/>
        </p:nvSpPr>
        <p:spPr>
          <a:xfrm>
            <a:off x="1250000" y="8700000"/>
            <a:ext cx="400000" cy="4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cope card"/>
          <p:cNvSpPr/>
          <p:nvPr/>
        </p:nvSpPr>
        <p:spPr>
          <a:xfrm>
            <a:off x="9425000" y="3950000"/>
            <a:ext cx="8225000" cy="12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9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Exploratory Data Analysis (EDA)</a:t>
            </a:r>
          </a:p>
        </p:txBody>
      </p:sp>
      <p:sp>
        <p:nvSpPr>
          <p:cNvPr id="16" name="Marker"/>
          <p:cNvSpPr/>
          <p:nvPr/>
        </p:nvSpPr>
        <p:spPr>
          <a:xfrm>
            <a:off x="9775000" y="4350000"/>
            <a:ext cx="400000" cy="4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cope card"/>
          <p:cNvSpPr/>
          <p:nvPr/>
        </p:nvSpPr>
        <p:spPr>
          <a:xfrm>
            <a:off x="9425000" y="5400000"/>
            <a:ext cx="8225000" cy="12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9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Statistical summaries and visualisations</a:t>
            </a:r>
          </a:p>
        </p:txBody>
      </p:sp>
      <p:sp>
        <p:nvSpPr>
          <p:cNvPr id="18" name="Marker"/>
          <p:cNvSpPr/>
          <p:nvPr/>
        </p:nvSpPr>
        <p:spPr>
          <a:xfrm>
            <a:off x="9775000" y="5800000"/>
            <a:ext cx="400000" cy="4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cope card"/>
          <p:cNvSpPr/>
          <p:nvPr/>
        </p:nvSpPr>
        <p:spPr>
          <a:xfrm>
            <a:off x="9425000" y="6850000"/>
            <a:ext cx="8225000" cy="12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9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Future feature engineering and player valuation</a:t>
            </a:r>
          </a:p>
        </p:txBody>
      </p:sp>
      <p:sp>
        <p:nvSpPr>
          <p:cNvPr id="20" name="Marker"/>
          <p:cNvSpPr/>
          <p:nvPr/>
        </p:nvSpPr>
        <p:spPr>
          <a:xfrm>
            <a:off x="9775000" y="7250000"/>
            <a:ext cx="400000" cy="4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42532" y="923093"/>
            <a:ext cx="13000000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589484" y="3326504"/>
            <a:ext cx="1561780" cy="1561780"/>
          </a:xfrm>
          <a:custGeom>
            <a:avLst/>
            <a:gdLst/>
            <a:ahLst/>
            <a:cxnLst/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8" name="Dataset table"/>
          <p:cNvGraphicFramePr>
            <a:graphicFrameLocks noGrp="1"/>
          </p:cNvGraphicFramePr>
          <p:nvPr/>
        </p:nvGraphicFramePr>
        <p:xfrm>
          <a:off x="2900000" y="3000000"/>
          <a:ext cx="14750000" cy="31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350000"/>
                <a:gridCol w="2100000"/>
                <a:gridCol w="2100000"/>
                <a:gridCol w="2400000"/>
                <a:gridCol w="1800000"/>
              </a:tblGrid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29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Records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FFFFFF"/>
                          </a:solidFill>
                          <a:latin typeface="Times New Roman"/>
                        </a:rPr>
                        <a:t>Features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FFFFFF"/>
                          </a:solidFill>
                          <a:latin typeface="Times New Roman"/>
                        </a:rPr>
                        <a:t>Format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112D63"/>
                    </a:solidFill>
                  </a:tcPr>
                </a:tc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2900" b="1" i="0">
                          <a:solidFill>
                            <a:srgbClr val="1B1F2A"/>
                          </a:solidFill>
                          <a:latin typeface="Times New Roman"/>
                        </a:rPr>
                        <a:t>Primary: Auction Dataset</a:t>
                      </a:r>
                    </a:p>
                    <a:p>
                      <a:pPr algn="l"/>
                      <a:r>
                        <a:rPr sz="2400" b="0" i="0">
                          <a:solidFill>
                            <a:srgbClr val="2F5DA8"/>
                          </a:solidFill>
                          <a:latin typeface="Times New Roman"/>
                        </a:rPr>
                        <a:t>IPL_Auction_2008_2026_Combined.csv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2,700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Structured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CSV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2900" b="1" i="0">
                          <a:solidFill>
                            <a:srgbClr val="1B1F2A"/>
                          </a:solidFill>
                          <a:latin typeface="Times New Roman"/>
                        </a:rPr>
                        <a:t>Separate: Match Dataset</a:t>
                      </a:r>
                    </a:p>
                    <a:p>
                      <a:pPr algn="l"/>
                      <a:r>
                        <a:rPr sz="2400" b="0" i="0">
                          <a:solidFill>
                            <a:srgbClr val="2F5DA8"/>
                          </a:solidFill>
                          <a:latin typeface="Times New Roman"/>
                        </a:rPr>
                        <a:t>IPL_2008_2026_Merged.xlsx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1,243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31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Structured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100" b="0" i="0">
                          <a:solidFill>
                            <a:srgbClr val="1B1F2A"/>
                          </a:solidFill>
                          <a:latin typeface="Times New Roman"/>
                        </a:rPr>
                        <a:t>XLSX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9" name="Target callout"/>
          <p:cNvSpPr/>
          <p:nvPr/>
        </p:nvSpPr>
        <p:spPr>
          <a:xfrm>
            <a:off x="2900000" y="6400000"/>
            <a:ext cx="8500000" cy="105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rtlCol="0" anchor="ctr" wrap="square" lIns="250000" tIns="100000" rIns="250000" bIns="100000">
            <a:noAutofit/>
          </a:bodyPr>
          <a:lstStyle/>
          <a:p>
            <a:pPr algn="l"/>
            <a:r>
              <a:rPr sz="2900" b="0" i="0">
                <a:solidFill>
                  <a:srgbClr val="FFFFFF"/>
                </a:solidFill>
                <a:latin typeface="Times New Roman"/>
              </a:rPr>
              <a:t>Main variable of interest: </a:t>
            </a:r>
            <a:r>
              <a:rPr sz="2900" b="1" i="0">
                <a:solidFill>
                  <a:srgbClr val="FFFFFF"/>
                </a:solidFill>
                <a:latin typeface="Times New Roman"/>
              </a:rPr>
              <a:t>final_price_lakh</a:t>
            </a:r>
          </a:p>
        </p:txBody>
      </p:sp>
      <p:sp>
        <p:nvSpPr>
          <p:cNvPr id="10" name="Note callout"/>
          <p:cNvSpPr/>
          <p:nvPr/>
        </p:nvSpPr>
        <p:spPr>
          <a:xfrm>
            <a:off x="11650000" y="6400000"/>
            <a:ext cx="6000000" cy="1050000"/>
          </a:xfrm>
          <a:prstGeom prst="roundRect">
            <a:avLst>
              <a:gd name="adj" fmla="val 7000"/>
            </a:avLst>
          </a:prstGeom>
          <a:solidFill>
            <a:srgbClr val="FFF1CC"/>
          </a:solidFill>
          <a:ln>
            <a:noFill/>
          </a:ln>
        </p:spPr>
        <p:txBody>
          <a:bodyPr rtlCol="0" anchor="ctr" wrap="square" lIns="250000" tIns="100000" rIns="250000" bIns="100000">
            <a:noAutofit/>
          </a:bodyPr>
          <a:lstStyle/>
          <a:p>
            <a:pPr algn="l"/>
            <a:r>
              <a:rPr sz="2700" b="0" i="1">
                <a:solidFill>
                  <a:srgbClr val="7A4D00"/>
                </a:solidFill>
                <a:latin typeface="Times New Roman"/>
              </a:rPr>
              <a:t>The auction and match datasets were analysed separately.</a:t>
            </a:r>
          </a:p>
        </p:txBody>
      </p:sp>
      <p:sp>
        <p:nvSpPr>
          <p:cNvPr id="11" name="Features label"/>
          <p:cNvSpPr txBox="1"/>
          <p:nvPr/>
        </p:nvSpPr>
        <p:spPr>
          <a:xfrm>
            <a:off x="2900000" y="7650000"/>
            <a:ext cx="14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112D63"/>
                </a:solidFill>
                <a:latin typeface="Times New Roman"/>
              </a:rPr>
              <a:t>Important Features (Auction Dataset)</a:t>
            </a:r>
          </a:p>
        </p:txBody>
      </p:sp>
      <p:sp>
        <p:nvSpPr>
          <p:cNvPr id="12" name="Feature chip"/>
          <p:cNvSpPr/>
          <p:nvPr/>
        </p:nvSpPr>
        <p:spPr>
          <a:xfrm>
            <a:off x="2900000" y="835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Year</a:t>
            </a:r>
          </a:p>
        </p:txBody>
      </p:sp>
      <p:sp>
        <p:nvSpPr>
          <p:cNvPr id="13" name="Feature chip"/>
          <p:cNvSpPr/>
          <p:nvPr/>
        </p:nvSpPr>
        <p:spPr>
          <a:xfrm>
            <a:off x="6650000" y="835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Player name</a:t>
            </a:r>
          </a:p>
        </p:txBody>
      </p:sp>
      <p:sp>
        <p:nvSpPr>
          <p:cNvPr id="14" name="Feature chip"/>
          <p:cNvSpPr/>
          <p:nvPr/>
        </p:nvSpPr>
        <p:spPr>
          <a:xfrm>
            <a:off x="10400000" y="835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Team</a:t>
            </a:r>
          </a:p>
        </p:txBody>
      </p:sp>
      <p:sp>
        <p:nvSpPr>
          <p:cNvPr id="15" name="Feature chip"/>
          <p:cNvSpPr/>
          <p:nvPr/>
        </p:nvSpPr>
        <p:spPr>
          <a:xfrm>
            <a:off x="14150000" y="835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Base price</a:t>
            </a:r>
          </a:p>
        </p:txBody>
      </p:sp>
      <p:sp>
        <p:nvSpPr>
          <p:cNvPr id="16" name="Feature chip"/>
          <p:cNvSpPr/>
          <p:nvPr/>
        </p:nvSpPr>
        <p:spPr>
          <a:xfrm>
            <a:off x="2900000" y="917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Final price</a:t>
            </a:r>
          </a:p>
        </p:txBody>
      </p:sp>
      <p:sp>
        <p:nvSpPr>
          <p:cNvPr id="17" name="Feature chip"/>
          <p:cNvSpPr/>
          <p:nvPr/>
        </p:nvSpPr>
        <p:spPr>
          <a:xfrm>
            <a:off x="6650000" y="917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Role</a:t>
            </a:r>
          </a:p>
        </p:txBody>
      </p:sp>
      <p:sp>
        <p:nvSpPr>
          <p:cNvPr id="18" name="Feature chip"/>
          <p:cNvSpPr/>
          <p:nvPr/>
        </p:nvSpPr>
        <p:spPr>
          <a:xfrm>
            <a:off x="10400000" y="917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Nationality</a:t>
            </a:r>
          </a:p>
        </p:txBody>
      </p:sp>
      <p:sp>
        <p:nvSpPr>
          <p:cNvPr id="19" name="Feature chip"/>
          <p:cNvSpPr/>
          <p:nvPr/>
        </p:nvSpPr>
        <p:spPr>
          <a:xfrm>
            <a:off x="14150000" y="9170000"/>
            <a:ext cx="3500000" cy="6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50000" tIns="30000" rIns="50000" bIns="30000">
            <a:noAutofit/>
          </a:bodyPr>
          <a:lstStyle/>
          <a:p>
            <a:pPr algn="ctr"/>
            <a:r>
              <a:rPr sz="2700" b="1" i="0">
                <a:solidFill>
                  <a:srgbClr val="112D63"/>
                </a:solidFill>
                <a:latin typeface="Times New Roman"/>
              </a:rPr>
              <a:t>Auction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 (Process / Workflow)</a:t>
            </a:r>
          </a:p>
        </p:txBody>
      </p:sp>
      <p:sp>
        <p:nvSpPr>
          <p:cNvPr id="7" name="Freeform 7"/>
          <p:cNvSpPr/>
          <p:nvPr/>
        </p:nvSpPr>
        <p:spPr>
          <a:xfrm>
            <a:off x="339787" y="3086100"/>
            <a:ext cx="2066922" cy="2057400"/>
          </a:xfrm>
          <a:custGeom>
            <a:avLst/>
            <a:gdLst/>
            <a:ahLst/>
            <a:cxnLst/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tep card"/>
          <p:cNvSpPr/>
          <p:nvPr/>
        </p:nvSpPr>
        <p:spPr>
          <a:xfrm>
            <a:off x="2900000" y="3050000"/>
            <a:ext cx="14750000" cy="10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adge 1"/>
          <p:cNvSpPr/>
          <p:nvPr/>
        </p:nvSpPr>
        <p:spPr>
          <a:xfrm>
            <a:off x="3150000" y="3170000"/>
            <a:ext cx="760000" cy="76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Step title"/>
          <p:cNvSpPr txBox="1"/>
          <p:nvPr/>
        </p:nvSpPr>
        <p:spPr>
          <a:xfrm>
            <a:off x="4200000" y="3050000"/>
            <a:ext cx="5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112D63"/>
                </a:solidFill>
                <a:latin typeface="Times New Roman"/>
              </a:rPr>
              <a:t>Data Collection</a:t>
            </a:r>
          </a:p>
        </p:txBody>
      </p:sp>
      <p:sp>
        <p:nvSpPr>
          <p:cNvPr id="11" name="Step text"/>
          <p:cNvSpPr txBox="1"/>
          <p:nvPr/>
        </p:nvSpPr>
        <p:spPr>
          <a:xfrm>
            <a:off x="9600000" y="3050000"/>
            <a:ext cx="78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Selected and loaded the IPL datasets.</a:t>
            </a:r>
          </a:p>
        </p:txBody>
      </p:sp>
      <p:sp>
        <p:nvSpPr>
          <p:cNvPr id="12" name="Step card"/>
          <p:cNvSpPr/>
          <p:nvPr/>
        </p:nvSpPr>
        <p:spPr>
          <a:xfrm>
            <a:off x="2900000" y="4200000"/>
            <a:ext cx="14750000" cy="10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dge 2"/>
          <p:cNvSpPr/>
          <p:nvPr/>
        </p:nvSpPr>
        <p:spPr>
          <a:xfrm>
            <a:off x="3150000" y="4320000"/>
            <a:ext cx="760000" cy="76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Step title"/>
          <p:cNvSpPr txBox="1"/>
          <p:nvPr/>
        </p:nvSpPr>
        <p:spPr>
          <a:xfrm>
            <a:off x="4200000" y="4200000"/>
            <a:ext cx="5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112D63"/>
                </a:solidFill>
                <a:latin typeface="Times New Roman"/>
              </a:rPr>
              <a:t>Data Audit</a:t>
            </a:r>
          </a:p>
        </p:txBody>
      </p:sp>
      <p:sp>
        <p:nvSpPr>
          <p:cNvPr id="15" name="Step text"/>
          <p:cNvSpPr txBox="1"/>
          <p:nvPr/>
        </p:nvSpPr>
        <p:spPr>
          <a:xfrm>
            <a:off x="9600000" y="4200000"/>
            <a:ext cx="78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Inspected dataset dimensions, columns, data types and missing values.</a:t>
            </a:r>
          </a:p>
        </p:txBody>
      </p:sp>
      <p:sp>
        <p:nvSpPr>
          <p:cNvPr id="16" name="Step card"/>
          <p:cNvSpPr/>
          <p:nvPr/>
        </p:nvSpPr>
        <p:spPr>
          <a:xfrm>
            <a:off x="2900000" y="5350000"/>
            <a:ext cx="14750000" cy="10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adge 3"/>
          <p:cNvSpPr/>
          <p:nvPr/>
        </p:nvSpPr>
        <p:spPr>
          <a:xfrm>
            <a:off x="3150000" y="5470000"/>
            <a:ext cx="760000" cy="76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8" name="Step title"/>
          <p:cNvSpPr txBox="1"/>
          <p:nvPr/>
        </p:nvSpPr>
        <p:spPr>
          <a:xfrm>
            <a:off x="4200000" y="5350000"/>
            <a:ext cx="5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112D63"/>
                </a:solidFill>
                <a:latin typeface="Times New Roman"/>
              </a:rPr>
              <a:t>Data Cleaning Analysis</a:t>
            </a:r>
          </a:p>
        </p:txBody>
      </p:sp>
      <p:sp>
        <p:nvSpPr>
          <p:cNvPr id="19" name="Step text"/>
          <p:cNvSpPr txBox="1"/>
          <p:nvPr/>
        </p:nvSpPr>
        <p:spPr>
          <a:xfrm>
            <a:off x="9600000" y="5350000"/>
            <a:ext cx="78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Checked duplicates and investigated potential outliers.</a:t>
            </a:r>
          </a:p>
        </p:txBody>
      </p:sp>
      <p:sp>
        <p:nvSpPr>
          <p:cNvPr id="20" name="Step card"/>
          <p:cNvSpPr/>
          <p:nvPr/>
        </p:nvSpPr>
        <p:spPr>
          <a:xfrm>
            <a:off x="2900000" y="6500000"/>
            <a:ext cx="14750000" cy="10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adge 4"/>
          <p:cNvSpPr/>
          <p:nvPr/>
        </p:nvSpPr>
        <p:spPr>
          <a:xfrm>
            <a:off x="3150000" y="6620000"/>
            <a:ext cx="760000" cy="76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2" name="Step title"/>
          <p:cNvSpPr txBox="1"/>
          <p:nvPr/>
        </p:nvSpPr>
        <p:spPr>
          <a:xfrm>
            <a:off x="4200000" y="6500000"/>
            <a:ext cx="5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112D63"/>
                </a:solidFill>
                <a:latin typeface="Times New Roman"/>
              </a:rPr>
              <a:t>Exploratory Data Analysis</a:t>
            </a:r>
          </a:p>
        </p:txBody>
      </p:sp>
      <p:sp>
        <p:nvSpPr>
          <p:cNvPr id="23" name="Step text"/>
          <p:cNvSpPr txBox="1"/>
          <p:nvPr/>
        </p:nvSpPr>
        <p:spPr>
          <a:xfrm>
            <a:off x="9600000" y="6500000"/>
            <a:ext cx="78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Created charts and statistical summaries to understand auction-price patterns.</a:t>
            </a:r>
          </a:p>
        </p:txBody>
      </p:sp>
      <p:sp>
        <p:nvSpPr>
          <p:cNvPr id="24" name="Step card"/>
          <p:cNvSpPr/>
          <p:nvPr/>
        </p:nvSpPr>
        <p:spPr>
          <a:xfrm>
            <a:off x="2900000" y="7650000"/>
            <a:ext cx="14750000" cy="1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112D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adge 5"/>
          <p:cNvSpPr/>
          <p:nvPr/>
        </p:nvSpPr>
        <p:spPr>
          <a:xfrm>
            <a:off x="3150000" y="7770000"/>
            <a:ext cx="760000" cy="760000"/>
          </a:xfrm>
          <a:prstGeom prst="ellipse">
            <a:avLst/>
          </a:prstGeom>
          <a:solidFill>
            <a:srgbClr val="E09B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6" name="Step title"/>
          <p:cNvSpPr txBox="1"/>
          <p:nvPr/>
        </p:nvSpPr>
        <p:spPr>
          <a:xfrm>
            <a:off x="4200000" y="7650000"/>
            <a:ext cx="5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112D63"/>
                </a:solidFill>
                <a:latin typeface="Times New Roman"/>
              </a:rPr>
              <a:t>Future Work</a:t>
            </a:r>
          </a:p>
        </p:txBody>
      </p:sp>
      <p:sp>
        <p:nvSpPr>
          <p:cNvPr id="27" name="Step text"/>
          <p:cNvSpPr txBox="1"/>
          <p:nvPr/>
        </p:nvSpPr>
        <p:spPr>
          <a:xfrm>
            <a:off x="9600000" y="7650000"/>
            <a:ext cx="78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Feature engineering, feature selection, PCA and dashboard development.</a:t>
            </a:r>
          </a:p>
        </p:txBody>
      </p:sp>
      <p:sp>
        <p:nvSpPr>
          <p:cNvPr id="28" name="Progress callout"/>
          <p:cNvSpPr/>
          <p:nvPr/>
        </p:nvSpPr>
        <p:spPr>
          <a:xfrm>
            <a:off x="2900000" y="8950000"/>
            <a:ext cx="14750000" cy="85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rtlCol="0" anchor="ctr" wrap="square" lIns="250000" tIns="100000" rIns="250000" bIns="10000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Current Progress: Weeks 1–4 completed.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sp>
        <p:nvSpPr>
          <p:cNvPr id="8" name="Subheading"/>
          <p:cNvSpPr txBox="1"/>
          <p:nvPr/>
        </p:nvSpPr>
        <p:spPr>
          <a:xfrm>
            <a:off x="2900000" y="2950000"/>
            <a:ext cx="1475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112D63"/>
                </a:solidFill>
                <a:latin typeface="Times New Roman"/>
              </a:rPr>
              <a:t>Data Audit</a:t>
            </a:r>
          </a:p>
        </p:txBody>
      </p:sp>
      <p:sp>
        <p:nvSpPr>
          <p:cNvPr id="9" name="Column header"/>
          <p:cNvSpPr txBox="1"/>
          <p:nvPr/>
        </p:nvSpPr>
        <p:spPr>
          <a:xfrm>
            <a:off x="2900000" y="3800000"/>
            <a:ext cx="7175000" cy="6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2F5DA8"/>
                </a:solidFill>
                <a:latin typeface="Times New Roman"/>
              </a:rPr>
              <a:t>Match Dataset — Week 2</a:t>
            </a:r>
          </a:p>
        </p:txBody>
      </p:sp>
      <p:sp>
        <p:nvSpPr>
          <p:cNvPr id="10" name="Column header"/>
          <p:cNvSpPr txBox="1"/>
          <p:nvPr/>
        </p:nvSpPr>
        <p:spPr>
          <a:xfrm>
            <a:off x="10475000" y="3800000"/>
            <a:ext cx="7175000" cy="6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2F5DA8"/>
                </a:solidFill>
                <a:latin typeface="Times New Roman"/>
              </a:rPr>
              <a:t>Auction Dataset</a:t>
            </a:r>
          </a:p>
        </p:txBody>
      </p:sp>
      <p:sp>
        <p:nvSpPr>
          <p:cNvPr id="11" name="Stat tile"/>
          <p:cNvSpPr/>
          <p:nvPr/>
        </p:nvSpPr>
        <p:spPr>
          <a:xfrm>
            <a:off x="2900000" y="4600000"/>
            <a:ext cx="2258333" cy="27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120000" tIns="620000" rIns="120000" bIns="100000">
            <a:noAutofit/>
          </a:bodyPr>
          <a:lstStyle/>
          <a:p>
            <a:pPr algn="ctr">
              <a:spcAft>
                <a:spcPts val="400"/>
              </a:spcAft>
            </a:pPr>
            <a:r>
              <a:rPr sz="5200" b="1" i="0">
                <a:solidFill>
                  <a:srgbClr val="112D63"/>
                </a:solidFill>
                <a:latin typeface="Times New Roman"/>
              </a:rPr>
              <a:t>1,243</a:t>
            </a:r>
          </a:p>
          <a:p>
            <a:pPr algn="ctr"/>
            <a:r>
              <a:rPr sz="2500" b="0" i="0">
                <a:solidFill>
                  <a:srgbClr val="1B1F2A"/>
                </a:solidFill>
                <a:latin typeface="Times New Roman"/>
              </a:rPr>
              <a:t>rows × 31 columns</a:t>
            </a:r>
          </a:p>
        </p:txBody>
      </p:sp>
      <p:sp>
        <p:nvSpPr>
          <p:cNvPr id="12" name="Stat tile"/>
          <p:cNvSpPr/>
          <p:nvPr/>
        </p:nvSpPr>
        <p:spPr>
          <a:xfrm>
            <a:off x="5358333" y="4600000"/>
            <a:ext cx="2258333" cy="27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120000" tIns="620000" rIns="120000" bIns="100000">
            <a:noAutofit/>
          </a:bodyPr>
          <a:lstStyle/>
          <a:p>
            <a:pPr algn="ctr">
              <a:spcAft>
                <a:spcPts val="400"/>
              </a:spcAft>
            </a:pPr>
            <a:r>
              <a:rPr sz="5200" b="1" i="0">
                <a:solidFill>
                  <a:srgbClr val="112D63"/>
                </a:solidFill>
                <a:latin typeface="Times New Roman"/>
              </a:rPr>
              <a:t>0</a:t>
            </a:r>
          </a:p>
          <a:p>
            <a:pPr algn="ctr"/>
            <a:r>
              <a:rPr sz="2500" b="0" i="0">
                <a:solidFill>
                  <a:srgbClr val="1B1F2A"/>
                </a:solidFill>
                <a:latin typeface="Times New Roman"/>
              </a:rPr>
              <a:t>Duplicate rows</a:t>
            </a:r>
          </a:p>
        </p:txBody>
      </p:sp>
      <p:sp>
        <p:nvSpPr>
          <p:cNvPr id="13" name="Stat tile"/>
          <p:cNvSpPr/>
          <p:nvPr/>
        </p:nvSpPr>
        <p:spPr>
          <a:xfrm>
            <a:off x="7816666" y="4600000"/>
            <a:ext cx="2258333" cy="27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120000" tIns="620000" rIns="120000" bIns="100000">
            <a:noAutofit/>
          </a:bodyPr>
          <a:lstStyle/>
          <a:p>
            <a:pPr algn="ctr">
              <a:spcAft>
                <a:spcPts val="400"/>
              </a:spcAft>
            </a:pPr>
            <a:r>
              <a:rPr sz="5200" b="1" i="0">
                <a:solidFill>
                  <a:srgbClr val="112D63"/>
                </a:solidFill>
                <a:latin typeface="Times New Roman"/>
              </a:rPr>
              <a:t>108</a:t>
            </a:r>
          </a:p>
          <a:p>
            <a:pPr algn="ctr"/>
            <a:r>
              <a:rPr sz="2500" b="0" i="0">
                <a:solidFill>
                  <a:srgbClr val="1B1F2A"/>
                </a:solidFill>
                <a:latin typeface="Times New Roman"/>
              </a:rPr>
              <a:t>Missing values</a:t>
            </a:r>
          </a:p>
        </p:txBody>
      </p:sp>
      <p:sp>
        <p:nvSpPr>
          <p:cNvPr id="14" name="Stat tile"/>
          <p:cNvSpPr/>
          <p:nvPr/>
        </p:nvSpPr>
        <p:spPr>
          <a:xfrm>
            <a:off x="10475000" y="4600000"/>
            <a:ext cx="3487500" cy="27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120000" tIns="620000" rIns="120000" bIns="100000">
            <a:noAutofit/>
          </a:bodyPr>
          <a:lstStyle/>
          <a:p>
            <a:pPr algn="ctr">
              <a:spcAft>
                <a:spcPts val="400"/>
              </a:spcAft>
            </a:pPr>
            <a:r>
              <a:rPr sz="5200" b="1" i="0">
                <a:solidFill>
                  <a:srgbClr val="112D63"/>
                </a:solidFill>
                <a:latin typeface="Times New Roman"/>
              </a:rPr>
              <a:t>2,700</a:t>
            </a:r>
          </a:p>
          <a:p>
            <a:pPr algn="ctr"/>
            <a:r>
              <a:rPr sz="2500" b="0" i="0">
                <a:solidFill>
                  <a:srgbClr val="1B1F2A"/>
                </a:solidFill>
                <a:latin typeface="Times New Roman"/>
              </a:rPr>
              <a:t>rows × 11 columns</a:t>
            </a:r>
          </a:p>
        </p:txBody>
      </p:sp>
      <p:sp>
        <p:nvSpPr>
          <p:cNvPr id="15" name="Stat tile"/>
          <p:cNvSpPr/>
          <p:nvPr/>
        </p:nvSpPr>
        <p:spPr>
          <a:xfrm>
            <a:off x="14162500" y="4600000"/>
            <a:ext cx="3487500" cy="27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120000" tIns="620000" rIns="120000" bIns="100000">
            <a:noAutofit/>
          </a:bodyPr>
          <a:lstStyle/>
          <a:p>
            <a:pPr algn="ctr">
              <a:spcAft>
                <a:spcPts val="400"/>
              </a:spcAft>
            </a:pPr>
            <a:r>
              <a:rPr sz="5200" b="1" i="0">
                <a:solidFill>
                  <a:srgbClr val="112D63"/>
                </a:solidFill>
                <a:latin typeface="Times New Roman"/>
              </a:rPr>
              <a:t>0</a:t>
            </a:r>
          </a:p>
          <a:p>
            <a:pPr algn="ctr"/>
            <a:r>
              <a:rPr sz="2500" b="0" i="0">
                <a:solidFill>
                  <a:srgbClr val="1B1F2A"/>
                </a:solidFill>
                <a:latin typeface="Times New Roman"/>
              </a:rPr>
              <a:t>Exact duplicate rows</a:t>
            </a:r>
          </a:p>
        </p:txBody>
      </p:sp>
      <p:sp>
        <p:nvSpPr>
          <p:cNvPr id="16" name="Audit note"/>
          <p:cNvSpPr/>
          <p:nvPr/>
        </p:nvSpPr>
        <p:spPr>
          <a:xfrm>
            <a:off x="2900000" y="7600000"/>
            <a:ext cx="7175000" cy="2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112D63"/>
            </a:solidFill>
          </a:ln>
        </p:spPr>
        <p:txBody>
          <a:bodyPr rtlCol="0" anchor="ctr" wrap="square" lIns="250000" tIns="100000" rIns="250000" bIns="10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Missing values were reported in match_number, winner and player_of_match.</a:t>
            </a:r>
          </a:p>
        </p:txBody>
      </p:sp>
      <p:sp>
        <p:nvSpPr>
          <p:cNvPr id="17" name="Audit note"/>
          <p:cNvSpPr/>
          <p:nvPr/>
        </p:nvSpPr>
        <p:spPr>
          <a:xfrm>
            <a:off x="10475000" y="7600000"/>
            <a:ext cx="7175000" cy="2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112D63"/>
            </a:solidFill>
          </a:ln>
        </p:spPr>
        <p:txBody>
          <a:bodyPr rtlCol="0" anchor="ctr" wrap="square" lIns="250000" tIns="100000" rIns="250000" bIns="10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Missing values and potential outliers were identified.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sp>
        <p:nvSpPr>
          <p:cNvPr id="8" name="Subheading"/>
          <p:cNvSpPr txBox="1"/>
          <p:nvPr/>
        </p:nvSpPr>
        <p:spPr>
          <a:xfrm>
            <a:off x="2900000" y="2950000"/>
            <a:ext cx="1475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112D63"/>
                </a:solidFill>
                <a:latin typeface="Times New Roman"/>
              </a:rPr>
              <a:t>Data Cleaning Analysis</a:t>
            </a:r>
          </a:p>
        </p:txBody>
      </p:sp>
      <p:sp>
        <p:nvSpPr>
          <p:cNvPr id="9" name="Column header"/>
          <p:cNvSpPr txBox="1"/>
          <p:nvPr/>
        </p:nvSpPr>
        <p:spPr>
          <a:xfrm>
            <a:off x="2900000" y="3750000"/>
            <a:ext cx="7600000" cy="6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2F5DA8"/>
                </a:solidFill>
                <a:latin typeface="Times New Roman"/>
              </a:rPr>
              <a:t>Missing Values in the Auction Dataset</a:t>
            </a:r>
          </a:p>
        </p:txBody>
      </p:sp>
      <p:graphicFrame>
        <p:nvGraphicFramePr>
          <p:cNvPr id="10" name="Missing values table"/>
          <p:cNvGraphicFramePr>
            <a:graphicFrameLocks noGrp="1"/>
          </p:cNvGraphicFramePr>
          <p:nvPr/>
        </p:nvGraphicFramePr>
        <p:xfrm>
          <a:off x="2900000" y="4500000"/>
          <a:ext cx="7600000" cy="432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00000"/>
                <a:gridCol w="3600000"/>
              </a:tblGrid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900" b="1" i="0">
                          <a:solidFill>
                            <a:srgbClr val="FFFFFF"/>
                          </a:solidFill>
                          <a:latin typeface="Times New Roman"/>
                        </a:rPr>
                        <a:t>Feature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FFFFFF"/>
                          </a:solidFill>
                          <a:latin typeface="Times New Roman"/>
                        </a:rPr>
                        <a:t>Missing Values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112D63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Base Price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112D63"/>
                          </a:solidFill>
                          <a:latin typeface="Times New Roman"/>
                        </a:rPr>
                        <a:t>2,348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Final Price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112D63"/>
                          </a:solidFill>
                          <a:latin typeface="Times New Roman"/>
                        </a:rPr>
                        <a:t>303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112D63"/>
                          </a:solidFill>
                          <a:latin typeface="Times New Roman"/>
                        </a:rPr>
                        <a:t>1,275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Nationality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112D63"/>
                          </a:solidFill>
                          <a:latin typeface="Times New Roman"/>
                        </a:rPr>
                        <a:t>1,123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Player ID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b="1" i="0">
                          <a:solidFill>
                            <a:srgbClr val="112D63"/>
                          </a:solidFill>
                          <a:latin typeface="Times New Roman"/>
                        </a:rPr>
                        <a:t>72</a:t>
                      </a:r>
                    </a:p>
                  </a:txBody>
                  <a:tcPr marL="180000" marR="180000" marT="70000" marB="70000" anchor="ctr">
                    <a:lnL w="12700" cap="flat" cmpd="sng" algn="ctr">
                      <a:solidFill>
                        <a:srgbClr val="BFCBE0"/>
                      </a:solidFill>
                      <a:prstDash val="solid"/>
                    </a:lnL>
                    <a:lnR w="12700" cap="flat" cmpd="sng" algn="ctr">
                      <a:solidFill>
                        <a:srgbClr val="BFCBE0"/>
                      </a:solidFill>
                      <a:prstDash val="solid"/>
                    </a:lnR>
                    <a:lnT w="12700" cap="flat" cmpd="sng" algn="ctr">
                      <a:solidFill>
                        <a:srgbClr val="BFCBE0"/>
                      </a:solidFill>
                      <a:prstDash val="solid"/>
                    </a:lnT>
                    <a:lnB w="12700" cap="flat" cmpd="sng" algn="ctr">
                      <a:solidFill>
                        <a:srgbClr val="BFCBE0"/>
                      </a:solidFill>
                      <a:prstDash val="solid"/>
                    </a:lnB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11" name="Column header"/>
          <p:cNvSpPr txBox="1"/>
          <p:nvPr/>
        </p:nvSpPr>
        <p:spPr>
          <a:xfrm>
            <a:off x="10900000" y="3750000"/>
            <a:ext cx="6750000" cy="6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100" b="1" i="0">
                <a:solidFill>
                  <a:srgbClr val="2F5DA8"/>
                </a:solidFill>
                <a:latin typeface="Times New Roman"/>
              </a:rPr>
              <a:t>Potential Outliers</a:t>
            </a:r>
          </a:p>
        </p:txBody>
      </p:sp>
      <p:sp>
        <p:nvSpPr>
          <p:cNvPr id="12" name="Outlier tile"/>
          <p:cNvSpPr/>
          <p:nvPr/>
        </p:nvSpPr>
        <p:spPr>
          <a:xfrm>
            <a:off x="10900000" y="4500000"/>
            <a:ext cx="6750000" cy="13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utlier count"/>
          <p:cNvSpPr txBox="1"/>
          <p:nvPr/>
        </p:nvSpPr>
        <p:spPr>
          <a:xfrm>
            <a:off x="11100000" y="4500000"/>
            <a:ext cx="190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900" b="1" i="0">
                <a:solidFill>
                  <a:srgbClr val="112D63"/>
                </a:solidFill>
                <a:latin typeface="Times New Roman"/>
              </a:rPr>
              <a:t>19</a:t>
            </a:r>
          </a:p>
        </p:txBody>
      </p:sp>
      <p:sp>
        <p:nvSpPr>
          <p:cNvPr id="14" name="Outlier text"/>
          <p:cNvSpPr txBox="1"/>
          <p:nvPr/>
        </p:nvSpPr>
        <p:spPr>
          <a:xfrm>
            <a:off x="13100000" y="4500000"/>
            <a:ext cx="435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900" b="1" i="0">
                <a:solidFill>
                  <a:srgbClr val="1B1F2A"/>
                </a:solidFill>
                <a:latin typeface="Times New Roman"/>
              </a:rPr>
              <a:t>Base price</a:t>
            </a:r>
          </a:p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flagged using IQR</a:t>
            </a:r>
          </a:p>
        </p:txBody>
      </p:sp>
      <p:sp>
        <p:nvSpPr>
          <p:cNvPr id="15" name="Outlier tile"/>
          <p:cNvSpPr/>
          <p:nvPr/>
        </p:nvSpPr>
        <p:spPr>
          <a:xfrm>
            <a:off x="10900000" y="6000000"/>
            <a:ext cx="6750000" cy="13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utlier count"/>
          <p:cNvSpPr txBox="1"/>
          <p:nvPr/>
        </p:nvSpPr>
        <p:spPr>
          <a:xfrm>
            <a:off x="11100000" y="6000000"/>
            <a:ext cx="190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900" b="1" i="0">
                <a:solidFill>
                  <a:srgbClr val="112D63"/>
                </a:solidFill>
                <a:latin typeface="Times New Roman"/>
              </a:rPr>
              <a:t>181</a:t>
            </a:r>
          </a:p>
        </p:txBody>
      </p:sp>
      <p:sp>
        <p:nvSpPr>
          <p:cNvPr id="17" name="Outlier text"/>
          <p:cNvSpPr txBox="1"/>
          <p:nvPr/>
        </p:nvSpPr>
        <p:spPr>
          <a:xfrm>
            <a:off x="13100000" y="6000000"/>
            <a:ext cx="435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900" b="1" i="0">
                <a:solidFill>
                  <a:srgbClr val="1B1F2A"/>
                </a:solidFill>
                <a:latin typeface="Times New Roman"/>
              </a:rPr>
              <a:t>Final price</a:t>
            </a:r>
          </a:p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flagged using IQR</a:t>
            </a:r>
          </a:p>
        </p:txBody>
      </p:sp>
      <p:sp>
        <p:nvSpPr>
          <p:cNvPr id="18" name="Outlier tile"/>
          <p:cNvSpPr/>
          <p:nvPr/>
        </p:nvSpPr>
        <p:spPr>
          <a:xfrm>
            <a:off x="10900000" y="7500000"/>
            <a:ext cx="6750000" cy="13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utlier count"/>
          <p:cNvSpPr txBox="1"/>
          <p:nvPr/>
        </p:nvSpPr>
        <p:spPr>
          <a:xfrm>
            <a:off x="11100000" y="7500000"/>
            <a:ext cx="190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900" b="1" i="0">
                <a:solidFill>
                  <a:srgbClr val="112D63"/>
                </a:solidFill>
                <a:latin typeface="Times New Roman"/>
              </a:rPr>
              <a:t>66</a:t>
            </a:r>
          </a:p>
        </p:txBody>
      </p:sp>
      <p:sp>
        <p:nvSpPr>
          <p:cNvPr id="20" name="Outlier text"/>
          <p:cNvSpPr txBox="1"/>
          <p:nvPr/>
        </p:nvSpPr>
        <p:spPr>
          <a:xfrm>
            <a:off x="13100000" y="7500000"/>
            <a:ext cx="435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900" b="1" i="0">
                <a:solidFill>
                  <a:srgbClr val="1B1F2A"/>
                </a:solidFill>
                <a:latin typeface="Times New Roman"/>
              </a:rPr>
              <a:t>Final price</a:t>
            </a:r>
          </a:p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flagged using Z-score</a:t>
            </a:r>
          </a:p>
        </p:txBody>
      </p:sp>
      <p:sp>
        <p:nvSpPr>
          <p:cNvPr id="21" name="Note"/>
          <p:cNvSpPr txBox="1"/>
          <p:nvPr/>
        </p:nvSpPr>
        <p:spPr>
          <a:xfrm>
            <a:off x="2900000" y="9100000"/>
            <a:ext cx="147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0" i="1">
                <a:solidFill>
                  <a:srgbClr val="7A4D00"/>
                </a:solidFill>
                <a:latin typeface="Times New Roman"/>
              </a:rPr>
              <a:t>Note: These are potential outliers requiring investigation. Missing values remain in the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sp>
        <p:nvSpPr>
          <p:cNvPr id="8" name="Subheading"/>
          <p:cNvSpPr txBox="1"/>
          <p:nvPr/>
        </p:nvSpPr>
        <p:spPr>
          <a:xfrm>
            <a:off x="2900000" y="2950000"/>
            <a:ext cx="1475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112D63"/>
                </a:solidFill>
                <a:latin typeface="Times New Roman"/>
              </a:rPr>
              <a:t>Exploratory Data Analysis (EDA)</a:t>
            </a:r>
          </a:p>
        </p:txBody>
      </p:sp>
      <p:sp>
        <p:nvSpPr>
          <p:cNvPr id="9" name="Intro"/>
          <p:cNvSpPr txBox="1"/>
          <p:nvPr/>
        </p:nvSpPr>
        <p:spPr>
          <a:xfrm>
            <a:off x="2900000" y="3700000"/>
            <a:ext cx="14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900" b="0" i="1">
                <a:solidFill>
                  <a:srgbClr val="1B1F2A"/>
                </a:solidFill>
                <a:latin typeface="Times New Roman"/>
              </a:rPr>
              <a:t>The following analyses were performed during Week 4:</a:t>
            </a:r>
          </a:p>
        </p:txBody>
      </p:sp>
      <p:sp>
        <p:nvSpPr>
          <p:cNvPr id="10" name="EDA card"/>
          <p:cNvSpPr/>
          <p:nvPr/>
        </p:nvSpPr>
        <p:spPr>
          <a:xfrm>
            <a:off x="2900000" y="45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Auction-price distribution using a histogram.</a:t>
            </a:r>
          </a:p>
        </p:txBody>
      </p:sp>
      <p:sp>
        <p:nvSpPr>
          <p:cNvPr id="11" name="Badge 1"/>
          <p:cNvSpPr/>
          <p:nvPr/>
        </p:nvSpPr>
        <p:spPr>
          <a:xfrm>
            <a:off x="3150000" y="49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" name="EDA card"/>
          <p:cNvSpPr/>
          <p:nvPr/>
        </p:nvSpPr>
        <p:spPr>
          <a:xfrm>
            <a:off x="7900000" y="45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Price spread and potential extremes using a boxplot.</a:t>
            </a:r>
          </a:p>
        </p:txBody>
      </p:sp>
      <p:sp>
        <p:nvSpPr>
          <p:cNvPr id="13" name="Badge 2"/>
          <p:cNvSpPr/>
          <p:nvPr/>
        </p:nvSpPr>
        <p:spPr>
          <a:xfrm>
            <a:off x="8150000" y="49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EDA card"/>
          <p:cNvSpPr/>
          <p:nvPr/>
        </p:nvSpPr>
        <p:spPr>
          <a:xfrm>
            <a:off x="12900000" y="45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Price distribution using a violin plot.</a:t>
            </a:r>
          </a:p>
        </p:txBody>
      </p:sp>
      <p:sp>
        <p:nvSpPr>
          <p:cNvPr id="15" name="Badge 3"/>
          <p:cNvSpPr/>
          <p:nvPr/>
        </p:nvSpPr>
        <p:spPr>
          <a:xfrm>
            <a:off x="13150000" y="49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EDA card"/>
          <p:cNvSpPr/>
          <p:nvPr/>
        </p:nvSpPr>
        <p:spPr>
          <a:xfrm>
            <a:off x="2900000" y="63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Player-record counts by role.</a:t>
            </a:r>
          </a:p>
        </p:txBody>
      </p:sp>
      <p:sp>
        <p:nvSpPr>
          <p:cNvPr id="17" name="Badge 4"/>
          <p:cNvSpPr/>
          <p:nvPr/>
        </p:nvSpPr>
        <p:spPr>
          <a:xfrm>
            <a:off x="3150000" y="67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8" name="EDA card"/>
          <p:cNvSpPr/>
          <p:nvPr/>
        </p:nvSpPr>
        <p:spPr>
          <a:xfrm>
            <a:off x="7900000" y="63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Sold and unsold status comparison.</a:t>
            </a:r>
          </a:p>
        </p:txBody>
      </p:sp>
      <p:sp>
        <p:nvSpPr>
          <p:cNvPr id="19" name="Badge 5"/>
          <p:cNvSpPr/>
          <p:nvPr/>
        </p:nvSpPr>
        <p:spPr>
          <a:xfrm>
            <a:off x="8150000" y="67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0" name="EDA card"/>
          <p:cNvSpPr/>
          <p:nvPr/>
        </p:nvSpPr>
        <p:spPr>
          <a:xfrm>
            <a:off x="12900000" y="63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Average auction price by team.</a:t>
            </a:r>
          </a:p>
        </p:txBody>
      </p:sp>
      <p:sp>
        <p:nvSpPr>
          <p:cNvPr id="21" name="Badge 6"/>
          <p:cNvSpPr/>
          <p:nvPr/>
        </p:nvSpPr>
        <p:spPr>
          <a:xfrm>
            <a:off x="13150000" y="67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2" name="EDA card"/>
          <p:cNvSpPr/>
          <p:nvPr/>
        </p:nvSpPr>
        <p:spPr>
          <a:xfrm>
            <a:off x="2900000" y="81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Average auction price by year.</a:t>
            </a:r>
          </a:p>
        </p:txBody>
      </p:sp>
      <p:sp>
        <p:nvSpPr>
          <p:cNvPr id="23" name="Badge 7"/>
          <p:cNvSpPr/>
          <p:nvPr/>
        </p:nvSpPr>
        <p:spPr>
          <a:xfrm>
            <a:off x="3150000" y="85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4" name="EDA card"/>
          <p:cNvSpPr/>
          <p:nvPr/>
        </p:nvSpPr>
        <p:spPr>
          <a:xfrm>
            <a:off x="7900000" y="81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Base price versus final price scatter plot.</a:t>
            </a:r>
          </a:p>
        </p:txBody>
      </p:sp>
      <p:sp>
        <p:nvSpPr>
          <p:cNvPr id="25" name="Badge 8"/>
          <p:cNvSpPr/>
          <p:nvPr/>
        </p:nvSpPr>
        <p:spPr>
          <a:xfrm>
            <a:off x="8150000" y="85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26" name="EDA card"/>
          <p:cNvSpPr/>
          <p:nvPr/>
        </p:nvSpPr>
        <p:spPr>
          <a:xfrm>
            <a:off x="12900000" y="8100000"/>
            <a:ext cx="4750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150000" tIns="80000" rIns="20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Correlation heatmap and pair plot.</a:t>
            </a:r>
          </a:p>
        </p:txBody>
      </p:sp>
      <p:sp>
        <p:nvSpPr>
          <p:cNvPr id="27" name="Badge 9"/>
          <p:cNvSpPr/>
          <p:nvPr/>
        </p:nvSpPr>
        <p:spPr>
          <a:xfrm>
            <a:off x="13150000" y="85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EDA Findings</a:t>
            </a:r>
          </a:p>
        </p:txBody>
      </p:sp>
      <p:sp>
        <p:nvSpPr>
          <p:cNvPr id="8" name="Finding card"/>
          <p:cNvSpPr/>
          <p:nvPr/>
        </p:nvSpPr>
        <p:spPr>
          <a:xfrm>
            <a:off x="2900000" y="3000000"/>
            <a:ext cx="7225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850000" tIns="80000" rIns="25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The current team-average chart shows higher averages for GT and LSG among the displayed teams.</a:t>
            </a:r>
          </a:p>
        </p:txBody>
      </p:sp>
      <p:sp>
        <p:nvSpPr>
          <p:cNvPr id="9" name="Marker"/>
          <p:cNvSpPr/>
          <p:nvPr/>
        </p:nvSpPr>
        <p:spPr>
          <a:xfrm>
            <a:off x="3230000" y="3640000"/>
            <a:ext cx="320000" cy="32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ding card"/>
          <p:cNvSpPr/>
          <p:nvPr/>
        </p:nvSpPr>
        <p:spPr>
          <a:xfrm>
            <a:off x="10425000" y="3000000"/>
            <a:ext cx="7225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850000" tIns="80000" rIns="25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Bowler and All-Rounder are the largest categories in the current role-count chart.</a:t>
            </a:r>
          </a:p>
        </p:txBody>
      </p:sp>
      <p:sp>
        <p:nvSpPr>
          <p:cNvPr id="11" name="Marker"/>
          <p:cNvSpPr/>
          <p:nvPr/>
        </p:nvSpPr>
        <p:spPr>
          <a:xfrm>
            <a:off x="10755000" y="3640000"/>
            <a:ext cx="320000" cy="32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ding card"/>
          <p:cNvSpPr/>
          <p:nvPr/>
        </p:nvSpPr>
        <p:spPr>
          <a:xfrm>
            <a:off x="2900000" y="4850000"/>
            <a:ext cx="7225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850000" tIns="80000" rIns="25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Auction-price distributions contain potential extreme values.</a:t>
            </a:r>
          </a:p>
        </p:txBody>
      </p:sp>
      <p:sp>
        <p:nvSpPr>
          <p:cNvPr id="13" name="Marker"/>
          <p:cNvSpPr/>
          <p:nvPr/>
        </p:nvSpPr>
        <p:spPr>
          <a:xfrm>
            <a:off x="3230000" y="5490000"/>
            <a:ext cx="320000" cy="32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ding card"/>
          <p:cNvSpPr/>
          <p:nvPr/>
        </p:nvSpPr>
        <p:spPr>
          <a:xfrm>
            <a:off x="10425000" y="4850000"/>
            <a:ext cx="7225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850000" tIns="80000" rIns="25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Some role labels, such as Batsman and Batter, require consistency checks.</a:t>
            </a:r>
          </a:p>
        </p:txBody>
      </p:sp>
      <p:sp>
        <p:nvSpPr>
          <p:cNvPr id="15" name="Marker"/>
          <p:cNvSpPr/>
          <p:nvPr/>
        </p:nvSpPr>
        <p:spPr>
          <a:xfrm>
            <a:off x="10755000" y="5490000"/>
            <a:ext cx="320000" cy="32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ding card"/>
          <p:cNvSpPr/>
          <p:nvPr/>
        </p:nvSpPr>
        <p:spPr>
          <a:xfrm>
            <a:off x="2900000" y="6700000"/>
            <a:ext cx="7225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850000" tIns="80000" rIns="25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Team labels such as Unknown and - require further review.</a:t>
            </a:r>
          </a:p>
        </p:txBody>
      </p:sp>
      <p:sp>
        <p:nvSpPr>
          <p:cNvPr id="17" name="Marker"/>
          <p:cNvSpPr/>
          <p:nvPr/>
        </p:nvSpPr>
        <p:spPr>
          <a:xfrm>
            <a:off x="3230000" y="7340000"/>
            <a:ext cx="320000" cy="32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ding card"/>
          <p:cNvSpPr/>
          <p:nvPr/>
        </p:nvSpPr>
        <p:spPr>
          <a:xfrm>
            <a:off x="10425000" y="6700000"/>
            <a:ext cx="7225000" cy="16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850000" tIns="80000" rIns="250000" bIns="80000">
            <a:noAutofit/>
          </a:bodyPr>
          <a:lstStyle/>
          <a:p>
            <a:pPr algn="l"/>
            <a:r>
              <a:rPr sz="2700" b="0" i="0">
                <a:solidFill>
                  <a:srgbClr val="1B1F2A"/>
                </a:solidFill>
                <a:latin typeface="Times New Roman"/>
              </a:rPr>
              <a:t>Missing values may affect the reliability of comparisons.</a:t>
            </a:r>
          </a:p>
        </p:txBody>
      </p:sp>
      <p:sp>
        <p:nvSpPr>
          <p:cNvPr id="19" name="Marker"/>
          <p:cNvSpPr/>
          <p:nvPr/>
        </p:nvSpPr>
        <p:spPr>
          <a:xfrm>
            <a:off x="10755000" y="7340000"/>
            <a:ext cx="320000" cy="32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nterpretation callout"/>
          <p:cNvSpPr/>
          <p:nvPr/>
        </p:nvSpPr>
        <p:spPr>
          <a:xfrm>
            <a:off x="2900000" y="8600000"/>
            <a:ext cx="14750000" cy="12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rtlCol="0" anchor="ctr" wrap="square" lIns="350000" tIns="80000" rIns="350000" bIns="80000">
            <a:no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Times New Roman"/>
              </a:rPr>
              <a:t>Interpretation: </a:t>
            </a:r>
            <a:r>
              <a:rPr sz="2900" b="0" i="0">
                <a:solidFill>
                  <a:srgbClr val="FFFFFF"/>
                </a:solidFill>
                <a:latin typeface="Times New Roman"/>
              </a:rPr>
              <a:t>These are initial findings from the auction dataset and require further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2279" y="3424008"/>
            <a:ext cx="2201327" cy="1929163"/>
          </a:xfrm>
          <a:custGeom>
            <a:avLst/>
            <a:gdLst/>
            <a:ahLst/>
            <a:cxnLst/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Final Results</a:t>
            </a:r>
          </a:p>
        </p:txBody>
      </p:sp>
      <p:sp>
        <p:nvSpPr>
          <p:cNvPr id="8" name="Data quality card"/>
          <p:cNvSpPr/>
          <p:nvPr/>
        </p:nvSpPr>
        <p:spPr>
          <a:xfrm>
            <a:off x="2900000" y="3000000"/>
            <a:ext cx="7175000" cy="54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400000" tIns="350000" rIns="350000" bIns="200000">
            <a:noAutofit/>
          </a:bodyPr>
          <a:lstStyle/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112D63"/>
                </a:solidFill>
                <a:latin typeface="Times New Roman"/>
              </a:rPr>
              <a:t>Data Quality</a:t>
            </a:r>
          </a:p>
          <a:p>
            <a:pPr algn="l" marL="405130" indent="-405130">
              <a:spcAft>
                <a:spcPts val="10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Better understanding of missing values.</a:t>
            </a:r>
          </a:p>
          <a:p>
            <a:pPr algn="l" marL="405130" indent="-405130">
              <a:spcAft>
                <a:spcPts val="10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Documented cleaning decisions.</a:t>
            </a:r>
          </a:p>
          <a:p>
            <a:pPr algn="l" marL="405130" indent="-405130">
              <a:spcAft>
                <a:spcPts val="10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Careful investigation of potential outliers.</a:t>
            </a:r>
          </a:p>
          <a:p>
            <a:pPr algn="l" marL="405130" indent="-405130">
              <a:spcAft>
                <a:spcPts val="10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Improved consistency of category labels.</a:t>
            </a:r>
          </a:p>
        </p:txBody>
      </p:sp>
      <p:sp>
        <p:nvSpPr>
          <p:cNvPr id="9" name="EDA findings card"/>
          <p:cNvSpPr/>
          <p:nvPr/>
        </p:nvSpPr>
        <p:spPr>
          <a:xfrm>
            <a:off x="10475000" y="3000000"/>
            <a:ext cx="7175000" cy="54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400000" tIns="350000" rIns="350000" bIns="200000">
            <a:noAutofit/>
          </a:bodyPr>
          <a:lstStyle/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112D63"/>
                </a:solidFill>
                <a:latin typeface="Times New Roman"/>
              </a:rPr>
              <a:t>EDA Findings</a:t>
            </a:r>
          </a:p>
          <a:p>
            <a:pPr algn="l" marL="405130" indent="-405130">
              <a:spcAft>
                <a:spcPts val="10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Better understanding of auction-price distributions.</a:t>
            </a:r>
          </a:p>
          <a:p>
            <a:pPr algn="l" marL="405130" indent="-405130">
              <a:spcAft>
                <a:spcPts val="10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Comparisons across teams, seasons and roles.</a:t>
            </a:r>
          </a:p>
          <a:p>
            <a:pPr algn="l" marL="405130" indent="-405130">
              <a:spcAft>
                <a:spcPts val="10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Identification of useful statistical patterns.</a:t>
            </a:r>
          </a:p>
        </p:txBody>
      </p:sp>
      <p:sp>
        <p:nvSpPr>
          <p:cNvPr id="10" name="Future goal callout"/>
          <p:cNvSpPr/>
          <p:nvPr/>
        </p:nvSpPr>
        <p:spPr>
          <a:xfrm>
            <a:off x="2900000" y="8700000"/>
            <a:ext cx="14750000" cy="11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rtlCol="0" anchor="ctr" wrap="square" lIns="250000" tIns="100000" rIns="250000" bIns="10000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Future Goal: </a:t>
            </a:r>
            <a:r>
              <a:rPr sz="3400" b="0" i="0">
                <a:solidFill>
                  <a:srgbClr val="FFFFFF"/>
                </a:solidFill>
                <a:latin typeface="Times New Roman"/>
              </a:rPr>
              <a:t>Prepare the data for player-valuation modelling.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2279" y="3424008"/>
            <a:ext cx="2201327" cy="1929163"/>
          </a:xfrm>
          <a:custGeom>
            <a:avLst/>
            <a:gdLst/>
            <a:ahLst/>
            <a:cxnLst/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1–4 Completion Status</a:t>
            </a:r>
          </a:p>
        </p:txBody>
      </p:sp>
      <p:sp>
        <p:nvSpPr>
          <p:cNvPr id="8" name="Completion card"/>
          <p:cNvSpPr/>
          <p:nvPr/>
        </p:nvSpPr>
        <p:spPr>
          <a:xfrm>
            <a:off x="2900000" y="3150000"/>
            <a:ext cx="7175000" cy="19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4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Project setup and dataset selection completed.</a:t>
            </a:r>
          </a:p>
        </p:txBody>
      </p:sp>
      <p:sp>
        <p:nvSpPr>
          <p:cNvPr id="9" name="Badge ✓"/>
          <p:cNvSpPr/>
          <p:nvPr/>
        </p:nvSpPr>
        <p:spPr>
          <a:xfrm>
            <a:off x="3250000" y="3700000"/>
            <a:ext cx="800000" cy="80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0" name="Completion card"/>
          <p:cNvSpPr/>
          <p:nvPr/>
        </p:nvSpPr>
        <p:spPr>
          <a:xfrm>
            <a:off x="10475000" y="3150000"/>
            <a:ext cx="7175000" cy="19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4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Dataset inspection completed.</a:t>
            </a:r>
          </a:p>
        </p:txBody>
      </p:sp>
      <p:sp>
        <p:nvSpPr>
          <p:cNvPr id="11" name="Badge ✓"/>
          <p:cNvSpPr/>
          <p:nvPr/>
        </p:nvSpPr>
        <p:spPr>
          <a:xfrm>
            <a:off x="10825000" y="3700000"/>
            <a:ext cx="800000" cy="80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2" name="Completion card"/>
          <p:cNvSpPr/>
          <p:nvPr/>
        </p:nvSpPr>
        <p:spPr>
          <a:xfrm>
            <a:off x="2900000" y="5450000"/>
            <a:ext cx="7175000" cy="19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4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Missing-value and outlier analysis completed.</a:t>
            </a:r>
          </a:p>
        </p:txBody>
      </p:sp>
      <p:sp>
        <p:nvSpPr>
          <p:cNvPr id="13" name="Badge ✓"/>
          <p:cNvSpPr/>
          <p:nvPr/>
        </p:nvSpPr>
        <p:spPr>
          <a:xfrm>
            <a:off x="3250000" y="6000000"/>
            <a:ext cx="800000" cy="80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4" name="Completion card"/>
          <p:cNvSpPr/>
          <p:nvPr/>
        </p:nvSpPr>
        <p:spPr>
          <a:xfrm>
            <a:off x="10475000" y="5450000"/>
            <a:ext cx="7175000" cy="19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4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Exploratory Data Analysis (EDA) completed.</a:t>
            </a:r>
          </a:p>
        </p:txBody>
      </p:sp>
      <p:sp>
        <p:nvSpPr>
          <p:cNvPr id="15" name="Badge ✓"/>
          <p:cNvSpPr/>
          <p:nvPr/>
        </p:nvSpPr>
        <p:spPr>
          <a:xfrm>
            <a:off x="10825000" y="6000000"/>
            <a:ext cx="800000" cy="80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6" name="Completion card"/>
          <p:cNvSpPr/>
          <p:nvPr/>
        </p:nvSpPr>
        <p:spPr>
          <a:xfrm>
            <a:off x="2900000" y="7750000"/>
            <a:ext cx="7175000" cy="19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4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Statistical summaries and visualizations prepared.</a:t>
            </a:r>
          </a:p>
        </p:txBody>
      </p:sp>
      <p:sp>
        <p:nvSpPr>
          <p:cNvPr id="17" name="Badge ✓"/>
          <p:cNvSpPr/>
          <p:nvPr/>
        </p:nvSpPr>
        <p:spPr>
          <a:xfrm>
            <a:off x="3250000" y="8300000"/>
            <a:ext cx="800000" cy="80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8" name="Completion card"/>
          <p:cNvSpPr/>
          <p:nvPr/>
        </p:nvSpPr>
        <p:spPr>
          <a:xfrm>
            <a:off x="10475000" y="7750000"/>
            <a:ext cx="7175000" cy="19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400000" tIns="80000" rIns="250000" bIns="80000">
            <a:noAutofit/>
          </a:bodyPr>
          <a:lstStyle/>
          <a:p>
            <a:pPr algn="l"/>
            <a:r>
              <a:rPr sz="3100" b="0" i="0">
                <a:solidFill>
                  <a:srgbClr val="1B1F2A"/>
                </a:solidFill>
                <a:latin typeface="Times New Roman"/>
              </a:rPr>
              <a:t>Data-quality issues identified and documented.</a:t>
            </a:r>
          </a:p>
        </p:txBody>
      </p:sp>
      <p:sp>
        <p:nvSpPr>
          <p:cNvPr id="19" name="Badge ✓"/>
          <p:cNvSpPr/>
          <p:nvPr/>
        </p:nvSpPr>
        <p:spPr>
          <a:xfrm>
            <a:off x="10825000" y="8300000"/>
            <a:ext cx="800000" cy="80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03816" y="3187394"/>
            <a:ext cx="2395573" cy="2260550"/>
          </a:xfrm>
          <a:custGeom>
            <a:avLst/>
            <a:gdLst/>
            <a:ahLst/>
            <a:cxnLst/>
            <a:rect l="l" t="t" r="r" b="b"/>
            <a:pathLst>
              <a:path w="2395573" h="2260550">
                <a:moveTo>
                  <a:pt x="0" y="0"/>
                </a:moveTo>
                <a:lnTo>
                  <a:pt x="2395573" y="0"/>
                </a:lnTo>
                <a:lnTo>
                  <a:pt x="2395573" y="2260550"/>
                </a:lnTo>
                <a:lnTo>
                  <a:pt x="0" y="2260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900000" y="2930228"/>
          <a:ext cx="14750000" cy="6750000"/>
        </p:xfrm>
        <a:graphic>
          <a:graphicData uri="http://schemas.openxmlformats.org/drawingml/2006/table">
            <a:tbl>
              <a:tblPr/>
              <a:tblGrid>
                <a:gridCol w="4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000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sz="3400" b="1" i="0">
                          <a:solidFill>
                            <a:srgbClr val="1B1F2A"/>
                          </a:solidFill>
                          <a:latin typeface="Times New Roman"/>
                        </a:rPr>
                        <a:t>Team Member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sz="3400" b="1" i="0">
                          <a:solidFill>
                            <a:srgbClr val="1B1F2A"/>
                          </a:solidFill>
                          <a:latin typeface="Times New Roman"/>
                        </a:rPr>
                        <a:t>Roles &amp; Responsibilities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sz="3100" b="1" i="0">
                          <a:solidFill>
                            <a:srgbClr val="1B1F2A"/>
                          </a:solidFill>
                          <a:latin typeface="Times New Roman"/>
                        </a:rPr>
                        <a:t>Divyesh D 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Project coordination and dataset/GitHub 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sz="3100" b="1" i="0">
                          <a:solidFill>
                            <a:srgbClr val="1B1F2A"/>
                          </a:solidFill>
                          <a:latin typeface="Times New Roman"/>
                        </a:rPr>
                        <a:t>Mithuin P 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Data inspection and EDA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sz="3100" b="1" i="0">
                          <a:solidFill>
                            <a:srgbClr val="1B1F2A"/>
                          </a:solidFill>
                          <a:latin typeface="Times New Roman"/>
                        </a:rPr>
                        <a:t>Kavi Prakash 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Analysis and visualisation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sz="3100" b="1" i="0">
                          <a:solidFill>
                            <a:srgbClr val="1B1F2A"/>
                          </a:solidFill>
                          <a:latin typeface="Times New Roman"/>
                        </a:rPr>
                        <a:t>Madhan P 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Dataset documentation, weekly progress tracking and report preparation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sz="3100" b="1" i="0">
                          <a:solidFill>
                            <a:srgbClr val="1B1F2A"/>
                          </a:solidFill>
                          <a:latin typeface="Times New Roman"/>
                        </a:rPr>
                        <a:t>Renganathan G 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sz="2900" b="0" i="0">
                          <a:solidFill>
                            <a:srgbClr val="1B1F2A"/>
                          </a:solidFill>
                          <a:latin typeface="Times New Roman"/>
                        </a:rPr>
                        <a:t>Analysis and documentation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Roles &amp; Responsibilities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3934" y="3093509"/>
            <a:ext cx="2249599" cy="2229148"/>
          </a:xfrm>
          <a:custGeom>
            <a:avLst/>
            <a:gdLst/>
            <a:ahLst/>
            <a:cxnLst/>
            <a:rect l="l" t="t" r="r" b="b"/>
            <a:pathLst>
              <a:path w="2249599" h="2229148">
                <a:moveTo>
                  <a:pt x="0" y="0"/>
                </a:moveTo>
                <a:lnTo>
                  <a:pt x="2249598" y="0"/>
                </a:lnTo>
                <a:lnTo>
                  <a:pt x="2249598" y="2229148"/>
                </a:lnTo>
                <a:lnTo>
                  <a:pt x="0" y="2229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Faced</a:t>
            </a:r>
          </a:p>
        </p:txBody>
      </p:sp>
      <p:sp>
        <p:nvSpPr>
          <p:cNvPr id="8" name="Challenge card"/>
          <p:cNvSpPr/>
          <p:nvPr/>
        </p:nvSpPr>
        <p:spPr>
          <a:xfrm>
            <a:off x="2900000" y="3000000"/>
            <a:ext cx="7175000" cy="14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050000" tIns="80000" rIns="250000" bIns="8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Missing values in the auction dataset.</a:t>
            </a:r>
          </a:p>
        </p:txBody>
      </p:sp>
      <p:sp>
        <p:nvSpPr>
          <p:cNvPr id="9" name="Badge !"/>
          <p:cNvSpPr/>
          <p:nvPr/>
        </p:nvSpPr>
        <p:spPr>
          <a:xfrm>
            <a:off x="3200000" y="3400000"/>
            <a:ext cx="650000" cy="650000"/>
          </a:xfrm>
          <a:prstGeom prst="ellipse">
            <a:avLst/>
          </a:prstGeom>
          <a:solidFill>
            <a:srgbClr val="E09B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!</a:t>
            </a:r>
          </a:p>
        </p:txBody>
      </p:sp>
      <p:sp>
        <p:nvSpPr>
          <p:cNvPr id="10" name="Challenge card"/>
          <p:cNvSpPr/>
          <p:nvPr/>
        </p:nvSpPr>
        <p:spPr>
          <a:xfrm>
            <a:off x="10475000" y="3000000"/>
            <a:ext cx="7175000" cy="14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050000" tIns="80000" rIns="250000" bIns="8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Missing information in the match dataset.</a:t>
            </a:r>
          </a:p>
        </p:txBody>
      </p:sp>
      <p:sp>
        <p:nvSpPr>
          <p:cNvPr id="11" name="Badge !"/>
          <p:cNvSpPr/>
          <p:nvPr/>
        </p:nvSpPr>
        <p:spPr>
          <a:xfrm>
            <a:off x="10775000" y="3400000"/>
            <a:ext cx="650000" cy="650000"/>
          </a:xfrm>
          <a:prstGeom prst="ellipse">
            <a:avLst/>
          </a:prstGeom>
          <a:solidFill>
            <a:srgbClr val="E09B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!</a:t>
            </a:r>
          </a:p>
        </p:txBody>
      </p:sp>
      <p:sp>
        <p:nvSpPr>
          <p:cNvPr id="12" name="Challenge card"/>
          <p:cNvSpPr/>
          <p:nvPr/>
        </p:nvSpPr>
        <p:spPr>
          <a:xfrm>
            <a:off x="2900000" y="4650000"/>
            <a:ext cx="7175000" cy="14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050000" tIns="80000" rIns="250000" bIns="8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Potential outliers requiring investigation.</a:t>
            </a:r>
          </a:p>
        </p:txBody>
      </p:sp>
      <p:sp>
        <p:nvSpPr>
          <p:cNvPr id="13" name="Badge !"/>
          <p:cNvSpPr/>
          <p:nvPr/>
        </p:nvSpPr>
        <p:spPr>
          <a:xfrm>
            <a:off x="3200000" y="5050000"/>
            <a:ext cx="650000" cy="650000"/>
          </a:xfrm>
          <a:prstGeom prst="ellipse">
            <a:avLst/>
          </a:prstGeom>
          <a:solidFill>
            <a:srgbClr val="E09B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!</a:t>
            </a:r>
          </a:p>
        </p:txBody>
      </p:sp>
      <p:sp>
        <p:nvSpPr>
          <p:cNvPr id="14" name="Challenge card"/>
          <p:cNvSpPr/>
          <p:nvPr/>
        </p:nvSpPr>
        <p:spPr>
          <a:xfrm>
            <a:off x="10475000" y="4650000"/>
            <a:ext cx="7175000" cy="14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050000" tIns="80000" rIns="250000" bIns="8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Inconsistent player-role and team labels.</a:t>
            </a:r>
          </a:p>
        </p:txBody>
      </p:sp>
      <p:sp>
        <p:nvSpPr>
          <p:cNvPr id="15" name="Badge !"/>
          <p:cNvSpPr/>
          <p:nvPr/>
        </p:nvSpPr>
        <p:spPr>
          <a:xfrm>
            <a:off x="10775000" y="5050000"/>
            <a:ext cx="650000" cy="650000"/>
          </a:xfrm>
          <a:prstGeom prst="ellipse">
            <a:avLst/>
          </a:prstGeom>
          <a:solidFill>
            <a:srgbClr val="E09B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!</a:t>
            </a:r>
          </a:p>
        </p:txBody>
      </p:sp>
      <p:sp>
        <p:nvSpPr>
          <p:cNvPr id="16" name="Challenge card"/>
          <p:cNvSpPr/>
          <p:nvPr/>
        </p:nvSpPr>
        <p:spPr>
          <a:xfrm>
            <a:off x="2900000" y="6300000"/>
            <a:ext cx="7175000" cy="14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050000" tIns="80000" rIns="250000" bIns="8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Difficulties comparing groups with incomplete data.</a:t>
            </a:r>
          </a:p>
        </p:txBody>
      </p:sp>
      <p:sp>
        <p:nvSpPr>
          <p:cNvPr id="17" name="Badge !"/>
          <p:cNvSpPr/>
          <p:nvPr/>
        </p:nvSpPr>
        <p:spPr>
          <a:xfrm>
            <a:off x="3200000" y="6700000"/>
            <a:ext cx="650000" cy="650000"/>
          </a:xfrm>
          <a:prstGeom prst="ellipse">
            <a:avLst/>
          </a:prstGeom>
          <a:solidFill>
            <a:srgbClr val="E09B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!</a:t>
            </a:r>
          </a:p>
        </p:txBody>
      </p:sp>
      <p:sp>
        <p:nvSpPr>
          <p:cNvPr id="18" name="Challenge card"/>
          <p:cNvSpPr/>
          <p:nvPr/>
        </p:nvSpPr>
        <p:spPr>
          <a:xfrm>
            <a:off x="10475000" y="6300000"/>
            <a:ext cx="7175000" cy="14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1050000" tIns="80000" rIns="250000" bIns="80000">
            <a:noAutofit/>
          </a:bodyPr>
          <a:lstStyle/>
          <a:p>
            <a:pPr algn="l"/>
            <a:r>
              <a:rPr sz="2900" b="0" i="0">
                <a:solidFill>
                  <a:srgbClr val="1B1F2A"/>
                </a:solidFill>
                <a:latin typeface="Times New Roman"/>
              </a:rPr>
              <a:t>Need to validate identifiers before combining datasets.</a:t>
            </a:r>
          </a:p>
        </p:txBody>
      </p:sp>
      <p:sp>
        <p:nvSpPr>
          <p:cNvPr id="19" name="Badge !"/>
          <p:cNvSpPr/>
          <p:nvPr/>
        </p:nvSpPr>
        <p:spPr>
          <a:xfrm>
            <a:off x="10775000" y="6700000"/>
            <a:ext cx="650000" cy="650000"/>
          </a:xfrm>
          <a:prstGeom prst="ellipse">
            <a:avLst/>
          </a:prstGeom>
          <a:solidFill>
            <a:srgbClr val="E09B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!</a:t>
            </a:r>
          </a:p>
        </p:txBody>
      </p:sp>
      <p:sp>
        <p:nvSpPr>
          <p:cNvPr id="20" name="Approach callout"/>
          <p:cNvSpPr/>
          <p:nvPr/>
        </p:nvSpPr>
        <p:spPr>
          <a:xfrm>
            <a:off x="2900000" y="8100000"/>
            <a:ext cx="14750000" cy="15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rtlCol="0" anchor="ctr" wrap="square" lIns="450000" tIns="80000" rIns="450000" bIns="8000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imes New Roman"/>
              </a:rPr>
              <a:t>Approach: </a:t>
            </a:r>
            <a:r>
              <a:rPr sz="3400" b="0" i="0">
                <a:solidFill>
                  <a:srgbClr val="FFFFFF"/>
                </a:solidFill>
                <a:latin typeface="Times New Roman"/>
              </a:rPr>
              <a:t>Preserve raw data, document decisions and avoid inventing missing values.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9502" y="30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 &amp; Conclusion</a:t>
            </a:r>
          </a:p>
        </p:txBody>
      </p:sp>
      <p:sp>
        <p:nvSpPr>
          <p:cNvPr id="7" name="Future work card"/>
          <p:cNvSpPr/>
          <p:nvPr/>
        </p:nvSpPr>
        <p:spPr>
          <a:xfrm>
            <a:off x="2900000" y="3000000"/>
            <a:ext cx="8300000" cy="68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400000" tIns="350000" rIns="350000" bIns="200000">
            <a:noAutofit/>
          </a:bodyPr>
          <a:lstStyle/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112D63"/>
                </a:solidFill>
                <a:latin typeface="Times New Roman"/>
              </a:rPr>
              <a:t>Future Work</a:t>
            </a:r>
          </a:p>
          <a:p>
            <a:pPr algn="l" marL="405130" indent="-405130">
              <a:spcAft>
                <a:spcPts val="12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Review missing-value treatment.</a:t>
            </a:r>
          </a:p>
          <a:p>
            <a:pPr algn="l" marL="405130" indent="-405130">
              <a:spcAft>
                <a:spcPts val="12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Standardise inconsistent category labels.</a:t>
            </a:r>
          </a:p>
          <a:p>
            <a:pPr algn="l" marL="405130" indent="-405130">
              <a:spcAft>
                <a:spcPts val="12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Perform feature scaling, encoding and skewness correction in Week 6.</a:t>
            </a:r>
          </a:p>
          <a:p>
            <a:pPr algn="l" marL="405130" indent="-405130">
              <a:spcAft>
                <a:spcPts val="12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Perform feature selection and PCA in Week 7.</a:t>
            </a:r>
          </a:p>
          <a:p>
            <a:pPr algn="l" marL="405130" indent="-405130">
              <a:spcAft>
                <a:spcPts val="12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Develop an interactive dashboard in Week 8.</a:t>
            </a:r>
          </a:p>
          <a:p>
            <a:pPr algn="l" marL="405130" indent="-405130">
              <a:spcAft>
                <a:spcPts val="1200"/>
              </a:spcAft>
              <a:buFont typeface="Arial"/>
              <a:buChar char="•"/>
            </a:pPr>
            <a:r>
              <a:rPr sz="2900" b="0" i="0">
                <a:solidFill>
                  <a:srgbClr val="1B1F2A"/>
                </a:solidFill>
                <a:latin typeface="Times New Roman"/>
              </a:rPr>
              <a:t>Integrate auction and performance datasets only after validating join keys.</a:t>
            </a:r>
          </a:p>
        </p:txBody>
      </p:sp>
      <p:sp>
        <p:nvSpPr>
          <p:cNvPr id="8" name="Conclusion card"/>
          <p:cNvSpPr/>
          <p:nvPr/>
        </p:nvSpPr>
        <p:spPr>
          <a:xfrm>
            <a:off x="11500000" y="3000000"/>
            <a:ext cx="6150000" cy="68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rtlCol="0" anchor="t" wrap="square" lIns="400000" tIns="350000" rIns="350000" bIns="200000">
            <a:noAutofit/>
          </a:bodyPr>
          <a:lstStyle/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Times New Roman"/>
              </a:rPr>
              <a:t>Conclusion</a:t>
            </a:r>
          </a:p>
          <a:p>
            <a:pPr algn="l">
              <a:spcAft>
                <a:spcPts val="1400"/>
              </a:spcAft>
            </a:pPr>
            <a:r>
              <a:rPr sz="2900" b="0" i="0">
                <a:solidFill>
                  <a:srgbClr val="FFFFFF"/>
                </a:solidFill>
                <a:latin typeface="Times New Roman"/>
              </a:rPr>
              <a:t>Weeks 1–4 established the foundation for IPL auction analysis through dataset inspection, data-quality analysis and EDA.</a:t>
            </a:r>
          </a:p>
          <a:p>
            <a:pPr algn="l"/>
            <a:r>
              <a:rPr sz="2900" b="0" i="0">
                <a:solidFill>
                  <a:srgbClr val="FFFFFF"/>
                </a:solidFill>
                <a:latin typeface="Times New Roman"/>
              </a:rPr>
              <a:t>The initial findings help us understand auction-price patterns. Further cleaning and feature engineering are required before player-valuation modelling.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Datasets &amp; References</a:t>
            </a:r>
          </a:p>
        </p:txBody>
      </p:sp>
      <p:sp>
        <p:nvSpPr>
          <p:cNvPr id="6" name="Section label"/>
          <p:cNvSpPr txBox="1"/>
          <p:nvPr/>
        </p:nvSpPr>
        <p:spPr>
          <a:xfrm>
            <a:off x="900000" y="2950000"/>
            <a:ext cx="165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2F5DA8"/>
                </a:solidFill>
                <a:latin typeface="Times New Roman"/>
              </a:rPr>
              <a:t>A. Datasets Used</a:t>
            </a:r>
          </a:p>
        </p:txBody>
      </p:sp>
      <p:sp>
        <p:nvSpPr>
          <p:cNvPr id="7" name="Dataset card"/>
          <p:cNvSpPr/>
          <p:nvPr/>
        </p:nvSpPr>
        <p:spPr>
          <a:xfrm>
            <a:off x="900000" y="3750000"/>
            <a:ext cx="8050000" cy="37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350000" tIns="280000" rIns="300000" bIns="150000">
            <a:no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12D63"/>
                </a:solidFill>
                <a:latin typeface="Times New Roman"/>
              </a:rPr>
              <a:t>1. IPL Auction Dataset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12D63"/>
                </a:solidFill>
                <a:latin typeface="Times New Roman"/>
              </a:rPr>
              <a:t>File: </a:t>
            </a:r>
            <a:r>
              <a:rPr sz="2700" b="0" i="0">
                <a:solidFill>
                  <a:srgbClr val="1B1F2A"/>
                </a:solidFill>
                <a:latin typeface="Times New Roman"/>
              </a:rPr>
              <a:t>IPL_Auction_2008_2026_Combined.csv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12D63"/>
                </a:solidFill>
                <a:latin typeface="Times New Roman"/>
              </a:rPr>
              <a:t>Records: </a:t>
            </a:r>
            <a:r>
              <a:rPr sz="2700" b="0" i="0">
                <a:solidFill>
                  <a:srgbClr val="1B1F2A"/>
                </a:solidFill>
                <a:latin typeface="Times New Roman"/>
              </a:rPr>
              <a:t>2,700 rows × 11 columns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12D63"/>
                </a:solidFill>
                <a:latin typeface="Times New Roman"/>
              </a:rPr>
              <a:t>Contents: </a:t>
            </a:r>
            <a:r>
              <a:rPr sz="2700" b="0" i="0">
                <a:solidFill>
                  <a:srgbClr val="1B1F2A"/>
                </a:solidFill>
                <a:latin typeface="Times New Roman"/>
              </a:rPr>
              <a:t>Player details, auction year, team, base price, final price, role, nationality and auction status.</a:t>
            </a:r>
          </a:p>
        </p:txBody>
      </p:sp>
      <p:sp>
        <p:nvSpPr>
          <p:cNvPr id="8" name="Dataset card"/>
          <p:cNvSpPr/>
          <p:nvPr/>
        </p:nvSpPr>
        <p:spPr>
          <a:xfrm>
            <a:off x="9350000" y="3750000"/>
            <a:ext cx="8050000" cy="37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t" wrap="square" lIns="350000" tIns="280000" rIns="300000" bIns="150000">
            <a:no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12D63"/>
                </a:solidFill>
                <a:latin typeface="Times New Roman"/>
              </a:rPr>
              <a:t>2. IPL Match Dataset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12D63"/>
                </a:solidFill>
                <a:latin typeface="Times New Roman"/>
              </a:rPr>
              <a:t>File: </a:t>
            </a:r>
            <a:r>
              <a:rPr sz="2700" b="0" i="0">
                <a:solidFill>
                  <a:srgbClr val="1B1F2A"/>
                </a:solidFill>
                <a:latin typeface="Times New Roman"/>
              </a:rPr>
              <a:t>IPL_2008_2026_Merged.xlsx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12D63"/>
                </a:solidFill>
                <a:latin typeface="Times New Roman"/>
              </a:rPr>
              <a:t>Records: </a:t>
            </a:r>
            <a:r>
              <a:rPr sz="2700" b="0" i="0">
                <a:solidFill>
                  <a:srgbClr val="1B1F2A"/>
                </a:solidFill>
                <a:latin typeface="Times New Roman"/>
              </a:rPr>
              <a:t>1,243 rows × 31 columns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12D63"/>
                </a:solidFill>
                <a:latin typeface="Times New Roman"/>
              </a:rPr>
              <a:t>Contents: </a:t>
            </a:r>
            <a:r>
              <a:rPr sz="2700" b="0" i="0">
                <a:solidFill>
                  <a:srgbClr val="1B1F2A"/>
                </a:solidFill>
                <a:latin typeface="Times New Roman"/>
              </a:rPr>
              <a:t>Match details, match number, winner, Player of the Match and other match-related information.</a:t>
            </a:r>
          </a:p>
        </p:txBody>
      </p:sp>
      <p:sp>
        <p:nvSpPr>
          <p:cNvPr id="9" name="Section label"/>
          <p:cNvSpPr txBox="1"/>
          <p:nvPr/>
        </p:nvSpPr>
        <p:spPr>
          <a:xfrm>
            <a:off x="900000" y="7750000"/>
            <a:ext cx="165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>
                <a:solidFill>
                  <a:srgbClr val="2F5DA8"/>
                </a:solidFill>
                <a:latin typeface="Times New Roman"/>
              </a:rPr>
              <a:t>B. References</a:t>
            </a:r>
          </a:p>
        </p:txBody>
      </p:sp>
      <p:sp>
        <p:nvSpPr>
          <p:cNvPr id="10" name="Reference card"/>
          <p:cNvSpPr/>
          <p:nvPr/>
        </p:nvSpPr>
        <p:spPr>
          <a:xfrm>
            <a:off x="900000" y="8500000"/>
            <a:ext cx="16500000" cy="11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rtlCol="0" anchor="ctr" wrap="square" lIns="350000" tIns="80000" rIns="350000" bIns="80000">
            <a:noAutofit/>
          </a:bodyPr>
          <a:lstStyle/>
          <a:p>
            <a:pPr algn="l"/>
            <a:r>
              <a:rPr sz="2900" b="1" i="0">
                <a:solidFill>
                  <a:srgbClr val="112D63"/>
                </a:solidFill>
                <a:latin typeface="Times New Roman"/>
              </a:rPr>
              <a:t>GitHub Repository: </a:t>
            </a:r>
            <a:r>
              <a:rPr sz="2900" b="0" i="0">
                <a:latin typeface="Times New Roman"/>
                <a:hlinkClick r:id="rId2"/>
              </a:rPr>
              <a:t>https://github.com/Mithuinps/Moneyball-IPL-Player-Valuation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78F222-1B32-4B85-AB90-876A769BC140}">
  <ds:schemaRefs>
    <ds:schemaRef ds:uri="http://schemas.microsoft.com/office/2006/metadata/properties"/>
    <ds:schemaRef ds:uri="http://schemas.microsoft.com/office/infopath/2007/PartnerControls"/>
    <ds:schemaRef ds:uri="d75b73e7-722c-4013-b0ab-557461f00139"/>
    <ds:schemaRef ds:uri="123cd861-5ec8-471f-a092-4a549bd61773"/>
  </ds:schemaRefs>
</ds:datastoreItem>
</file>

<file path=customXml/itemProps2.xml><?xml version="1.0" encoding="utf-8"?>
<ds:datastoreItem xmlns:ds="http://schemas.openxmlformats.org/officeDocument/2006/customXml" ds:itemID="{D0FDA871-35C3-49FC-BE2F-8D9ECBCC2D3E}"/>
</file>

<file path=customXml/itemProps3.xml><?xml version="1.0" encoding="utf-8"?>
<ds:datastoreItem xmlns:ds="http://schemas.openxmlformats.org/officeDocument/2006/customXml" ds:itemID="{933E3D7C-5C3D-4B60-9674-3050C6F34F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</Words>
  <Application>Microsoft Office PowerPoint</Application>
  <PresentationFormat>Custom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Times New Roman Bold</vt:lpstr>
      <vt:lpstr>Poppins Bold Italics</vt:lpstr>
      <vt:lpstr>Times New Roman</vt:lpstr>
      <vt:lpstr>Poppins Bold</vt:lpstr>
      <vt:lpstr>Poppins Italics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24ADI204</dc:title>
  <cp:lastModifiedBy>Rupashini P R</cp:lastModifiedBy>
  <cp:revision>100</cp:revision>
  <dcterms:created xsi:type="dcterms:W3CDTF">2006-08-16T00:00:00Z</dcterms:created>
  <dcterms:modified xsi:type="dcterms:W3CDTF">2026-09-16T09:22:06Z</dcterms:modified>
  <dc:identifier>DAHC23RksKI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</Properties>
</file>